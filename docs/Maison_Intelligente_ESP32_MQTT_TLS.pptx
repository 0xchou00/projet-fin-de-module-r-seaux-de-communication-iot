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Liter" charset="-122" pitchFamily="34"/>
      <p:regular r:id="rId17"/>
    </p:embeddedFont>
    <p:embeddedFont>
      <p:font typeface="Quattrocento Sans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on25rwnvmr4w/mnt/agents/output/smart_home_iot/images/2_Smart_home_concept_The_glow_and_neon.png">    </p:cNvPr>
          <p:cNvPicPr>
            <a:picLocks noChangeAspect="1"/>
          </p:cNvPicPr>
          <p:nvPr/>
        </p:nvPicPr>
        <p:blipFill>
          <a:blip r:embed="rId1"/>
          <a:srcRect l="0" r="0" t="10166" b="1016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1120">
                  <a:alpha val="0"/>
                </a:srgbClr>
              </a:gs>
              <a:gs pos="40000">
                <a:srgbClr val="0B1120">
                  <a:alpha val="67000"/>
                </a:srgbClr>
              </a:gs>
              <a:gs pos="100000">
                <a:srgbClr val="0B1120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588000" y="2286000"/>
            <a:ext cx="5080000" cy="381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5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1778000" y="2540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8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MAISON INTELLIGENTE AVEC CONTRÔLE</a:t>
            </a:r>
            <a:endParaRPr lang="en-US" sz="4000" dirty="0"/>
          </a:p>
          <a:p>
            <a:pPr algn="ctr">
              <a:lnSpc>
                <a:spcPct val="110000"/>
              </a:lnSpc>
            </a:pPr>
            <a:r>
              <a:rPr lang="en-US" sz="3800" b="1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 LA TEMPÉRATURE ET DE L'HUMIDITÉ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 + MQTT + TLS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588000" y="5080000"/>
            <a:ext cx="5080000" cy="254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5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683000" y="5588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Saad Lakzit &amp; Omar Chouhani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83000" y="6096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Encadre par Prof. Fartitchou Mohamed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75500" y="6858000"/>
            <a:ext cx="1905000" cy="457200"/>
          </a:xfrm>
          <a:prstGeom prst="roundRect">
            <a:avLst>
              <a:gd name="adj" fmla="val 50000"/>
            </a:avLst>
          </a:prstGeom>
          <a:solidFill>
            <a:srgbClr val="00D4FF">
              <a:alpha val="12549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5500" y="68580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/ SMART HOME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30000">
                <a:srgbClr val="00D4FF">
                  <a:alpha val="8000"/>
                </a:srgbClr>
              </a:gs>
              <a:gs pos="50000">
                <a:srgbClr val="00D4FF">
                  <a:alpha val="19000"/>
                </a:srgbClr>
              </a:gs>
              <a:gs pos="70000">
                <a:srgbClr val="00D4FF">
                  <a:alpha val="8000"/>
                </a:srgbClr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/ 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984250" y="165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46063" y="87313"/>
                </a:moveTo>
                <a:lnTo>
                  <a:pt x="325438" y="87313"/>
                </a:lnTo>
                <a:lnTo>
                  <a:pt x="325438" y="134938"/>
                </a:lnTo>
                <a:lnTo>
                  <a:pt x="246063" y="134938"/>
                </a:lnTo>
                <a:lnTo>
                  <a:pt x="246063" y="87313"/>
                </a:lnTo>
                <a:close/>
                <a:moveTo>
                  <a:pt x="238125" y="31750"/>
                </a:moveTo>
                <a:cubicBezTo>
                  <a:pt x="211832" y="31750"/>
                  <a:pt x="190500" y="53082"/>
                  <a:pt x="190500" y="79375"/>
                </a:cubicBezTo>
                <a:lnTo>
                  <a:pt x="190500" y="142875"/>
                </a:lnTo>
                <a:cubicBezTo>
                  <a:pt x="190500" y="169168"/>
                  <a:pt x="211832" y="190500"/>
                  <a:pt x="238125" y="190500"/>
                </a:cubicBezTo>
                <a:lnTo>
                  <a:pt x="254000" y="190500"/>
                </a:lnTo>
                <a:lnTo>
                  <a:pt x="254000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127000" y="285750"/>
                </a:lnTo>
                <a:lnTo>
                  <a:pt x="127000" y="317500"/>
                </a:lnTo>
                <a:lnTo>
                  <a:pt x="111125" y="317500"/>
                </a:lnTo>
                <a:cubicBezTo>
                  <a:pt x="84832" y="317500"/>
                  <a:pt x="63500" y="338832"/>
                  <a:pt x="63500" y="365125"/>
                </a:cubicBezTo>
                <a:lnTo>
                  <a:pt x="63500" y="428625"/>
                </a:lnTo>
                <a:cubicBezTo>
                  <a:pt x="63500" y="454918"/>
                  <a:pt x="84832" y="476250"/>
                  <a:pt x="111125" y="476250"/>
                </a:cubicBezTo>
                <a:lnTo>
                  <a:pt x="206375" y="476250"/>
                </a:lnTo>
                <a:cubicBezTo>
                  <a:pt x="232668" y="476250"/>
                  <a:pt x="254000" y="454918"/>
                  <a:pt x="254000" y="428625"/>
                </a:cubicBezTo>
                <a:lnTo>
                  <a:pt x="254000" y="365125"/>
                </a:lnTo>
                <a:cubicBezTo>
                  <a:pt x="254000" y="338832"/>
                  <a:pt x="232668" y="317500"/>
                  <a:pt x="206375" y="317500"/>
                </a:cubicBezTo>
                <a:lnTo>
                  <a:pt x="190500" y="317500"/>
                </a:lnTo>
                <a:lnTo>
                  <a:pt x="190500" y="285750"/>
                </a:lnTo>
                <a:lnTo>
                  <a:pt x="381000" y="285750"/>
                </a:lnTo>
                <a:lnTo>
                  <a:pt x="381000" y="317500"/>
                </a:lnTo>
                <a:lnTo>
                  <a:pt x="365125" y="317500"/>
                </a:lnTo>
                <a:cubicBezTo>
                  <a:pt x="338832" y="317500"/>
                  <a:pt x="317500" y="338832"/>
                  <a:pt x="317500" y="365125"/>
                </a:cubicBezTo>
                <a:lnTo>
                  <a:pt x="317500" y="428625"/>
                </a:lnTo>
                <a:cubicBezTo>
                  <a:pt x="317500" y="454918"/>
                  <a:pt x="338832" y="476250"/>
                  <a:pt x="3651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365125"/>
                </a:lnTo>
                <a:cubicBezTo>
                  <a:pt x="508000" y="338832"/>
                  <a:pt x="486668" y="317500"/>
                  <a:pt x="460375" y="317500"/>
                </a:cubicBezTo>
                <a:lnTo>
                  <a:pt x="444500" y="317500"/>
                </a:lnTo>
                <a:lnTo>
                  <a:pt x="444500" y="285750"/>
                </a:lnTo>
                <a:lnTo>
                  <a:pt x="539750" y="285750"/>
                </a:lnTo>
                <a:cubicBezTo>
                  <a:pt x="557312" y="285750"/>
                  <a:pt x="571500" y="271562"/>
                  <a:pt x="571500" y="254000"/>
                </a:cubicBezTo>
                <a:cubicBezTo>
                  <a:pt x="571500" y="236438"/>
                  <a:pt x="557312" y="222250"/>
                  <a:pt x="539750" y="222250"/>
                </a:cubicBezTo>
                <a:lnTo>
                  <a:pt x="317500" y="222250"/>
                </a:lnTo>
                <a:lnTo>
                  <a:pt x="317500" y="190500"/>
                </a:lnTo>
                <a:lnTo>
                  <a:pt x="333375" y="190500"/>
                </a:lnTo>
                <a:cubicBezTo>
                  <a:pt x="359668" y="190500"/>
                  <a:pt x="381000" y="169168"/>
                  <a:pt x="381000" y="142875"/>
                </a:cubicBezTo>
                <a:lnTo>
                  <a:pt x="381000" y="79375"/>
                </a:lnTo>
                <a:cubicBezTo>
                  <a:pt x="381000" y="53082"/>
                  <a:pt x="359668" y="31750"/>
                  <a:pt x="333375" y="31750"/>
                </a:cubicBezTo>
                <a:lnTo>
                  <a:pt x="238125" y="31750"/>
                </a:lnTo>
                <a:close/>
                <a:moveTo>
                  <a:pt x="444500" y="373063"/>
                </a:moveTo>
                <a:lnTo>
                  <a:pt x="452437" y="373063"/>
                </a:lnTo>
                <a:lnTo>
                  <a:pt x="452437" y="420688"/>
                </a:lnTo>
                <a:lnTo>
                  <a:pt x="373063" y="420688"/>
                </a:lnTo>
                <a:lnTo>
                  <a:pt x="373063" y="373063"/>
                </a:lnTo>
                <a:lnTo>
                  <a:pt x="444500" y="373063"/>
                </a:lnTo>
                <a:close/>
                <a:moveTo>
                  <a:pt x="190500" y="373063"/>
                </a:moveTo>
                <a:lnTo>
                  <a:pt x="198438" y="373063"/>
                </a:lnTo>
                <a:lnTo>
                  <a:pt x="198438" y="420688"/>
                </a:lnTo>
                <a:lnTo>
                  <a:pt x="119063" y="420688"/>
                </a:lnTo>
                <a:lnTo>
                  <a:pt x="119063" y="373063"/>
                </a:lnTo>
                <a:lnTo>
                  <a:pt x="190500" y="37306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des Objets (IoT)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222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Reseau d'objets connectes communiquant et echangeant des donnees en temps reel. L'IoT transforme les environnements domestiques en ecosystemes intelligents et reactifs.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858250" y="165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11870" y="238125"/>
                </a:moveTo>
                <a:lnTo>
                  <a:pt x="492125" y="238125"/>
                </a:lnTo>
                <a:lnTo>
                  <a:pt x="492125" y="381000"/>
                </a:lnTo>
                <a:cubicBezTo>
                  <a:pt x="492125" y="416024"/>
                  <a:pt x="463649" y="444500"/>
                  <a:pt x="428625" y="444500"/>
                </a:cubicBezTo>
                <a:lnTo>
                  <a:pt x="292695" y="444500"/>
                </a:lnTo>
                <a:cubicBezTo>
                  <a:pt x="268883" y="353516"/>
                  <a:pt x="199926" y="280789"/>
                  <a:pt x="111125" y="251718"/>
                </a:cubicBezTo>
                <a:lnTo>
                  <a:pt x="111125" y="238125"/>
                </a:lnTo>
                <a:lnTo>
                  <a:pt x="91380" y="238125"/>
                </a:lnTo>
                <a:cubicBezTo>
                  <a:pt x="76002" y="238125"/>
                  <a:pt x="63500" y="225623"/>
                  <a:pt x="63500" y="210245"/>
                </a:cubicBezTo>
                <a:cubicBezTo>
                  <a:pt x="63500" y="202704"/>
                  <a:pt x="66576" y="195461"/>
                  <a:pt x="72033" y="190202"/>
                </a:cubicBezTo>
                <a:lnTo>
                  <a:pt x="274340" y="-4862"/>
                </a:lnTo>
                <a:cubicBezTo>
                  <a:pt x="281682" y="-11906"/>
                  <a:pt x="291405" y="-15875"/>
                  <a:pt x="301625" y="-15875"/>
                </a:cubicBezTo>
                <a:cubicBezTo>
                  <a:pt x="311845" y="-15875"/>
                  <a:pt x="321568" y="-11906"/>
                  <a:pt x="328910" y="-4862"/>
                </a:cubicBezTo>
                <a:lnTo>
                  <a:pt x="531217" y="190202"/>
                </a:lnTo>
                <a:cubicBezTo>
                  <a:pt x="536674" y="195461"/>
                  <a:pt x="539750" y="202704"/>
                  <a:pt x="539750" y="210245"/>
                </a:cubicBezTo>
                <a:cubicBezTo>
                  <a:pt x="539750" y="225623"/>
                  <a:pt x="527248" y="238125"/>
                  <a:pt x="511870" y="238125"/>
                </a:cubicBezTo>
                <a:close/>
                <a:moveTo>
                  <a:pt x="277813" y="190500"/>
                </a:moveTo>
                <a:cubicBezTo>
                  <a:pt x="264616" y="190500"/>
                  <a:pt x="254000" y="201116"/>
                  <a:pt x="254000" y="214313"/>
                </a:cubicBezTo>
                <a:lnTo>
                  <a:pt x="254000" y="261937"/>
                </a:lnTo>
                <a:cubicBezTo>
                  <a:pt x="254000" y="275134"/>
                  <a:pt x="264616" y="285750"/>
                  <a:pt x="277813" y="285750"/>
                </a:cubicBezTo>
                <a:lnTo>
                  <a:pt x="325438" y="285750"/>
                </a:lnTo>
                <a:cubicBezTo>
                  <a:pt x="338634" y="285750"/>
                  <a:pt x="349250" y="275134"/>
                  <a:pt x="349250" y="261937"/>
                </a:cubicBezTo>
                <a:lnTo>
                  <a:pt x="349250" y="214313"/>
                </a:lnTo>
                <a:cubicBezTo>
                  <a:pt x="349250" y="201116"/>
                  <a:pt x="338634" y="190500"/>
                  <a:pt x="325438" y="190500"/>
                </a:cubicBezTo>
                <a:lnTo>
                  <a:pt x="277813" y="190500"/>
                </a:lnTo>
                <a:close/>
                <a:moveTo>
                  <a:pt x="23812" y="285750"/>
                </a:moveTo>
                <a:cubicBezTo>
                  <a:pt x="150912" y="285750"/>
                  <a:pt x="254000" y="388838"/>
                  <a:pt x="254000" y="515938"/>
                </a:cubicBezTo>
                <a:cubicBezTo>
                  <a:pt x="254000" y="529134"/>
                  <a:pt x="243384" y="539750"/>
                  <a:pt x="230188" y="539750"/>
                </a:cubicBezTo>
                <a:cubicBezTo>
                  <a:pt x="216991" y="539750"/>
                  <a:pt x="206375" y="529134"/>
                  <a:pt x="206375" y="515938"/>
                </a:cubicBezTo>
                <a:cubicBezTo>
                  <a:pt x="206375" y="415131"/>
                  <a:pt x="124619" y="333375"/>
                  <a:pt x="23812" y="333375"/>
                </a:cubicBezTo>
                <a:cubicBezTo>
                  <a:pt x="10616" y="333375"/>
                  <a:pt x="0" y="322759"/>
                  <a:pt x="0" y="309562"/>
                </a:cubicBezTo>
                <a:cubicBezTo>
                  <a:pt x="0" y="296366"/>
                  <a:pt x="10616" y="285750"/>
                  <a:pt x="23812" y="285750"/>
                </a:cubicBezTo>
                <a:close/>
                <a:moveTo>
                  <a:pt x="31750" y="476250"/>
                </a:moveTo>
                <a:cubicBezTo>
                  <a:pt x="49273" y="476250"/>
                  <a:pt x="63500" y="490477"/>
                  <a:pt x="63500" y="508000"/>
                </a:cubicBezTo>
                <a:cubicBezTo>
                  <a:pt x="63500" y="525523"/>
                  <a:pt x="49273" y="539750"/>
                  <a:pt x="31750" y="539750"/>
                </a:cubicBezTo>
                <a:cubicBezTo>
                  <a:pt x="14227" y="539750"/>
                  <a:pt x="0" y="525523"/>
                  <a:pt x="0" y="508000"/>
                </a:cubicBezTo>
                <a:cubicBezTo>
                  <a:pt x="0" y="490477"/>
                  <a:pt x="14227" y="476250"/>
                  <a:pt x="31750" y="476250"/>
                </a:cubicBezTo>
                <a:close/>
                <a:moveTo>
                  <a:pt x="0" y="404813"/>
                </a:moveTo>
                <a:cubicBezTo>
                  <a:pt x="0" y="391616"/>
                  <a:pt x="10616" y="381000"/>
                  <a:pt x="23812" y="381000"/>
                </a:cubicBezTo>
                <a:cubicBezTo>
                  <a:pt x="98326" y="381000"/>
                  <a:pt x="158750" y="441424"/>
                  <a:pt x="158750" y="515938"/>
                </a:cubicBezTo>
                <a:cubicBezTo>
                  <a:pt x="158750" y="529134"/>
                  <a:pt x="148134" y="539750"/>
                  <a:pt x="134938" y="539750"/>
                </a:cubicBezTo>
                <a:cubicBezTo>
                  <a:pt x="121741" y="539750"/>
                  <a:pt x="111125" y="529134"/>
                  <a:pt x="111125" y="515938"/>
                </a:cubicBezTo>
                <a:cubicBezTo>
                  <a:pt x="111125" y="467717"/>
                  <a:pt x="72033" y="428625"/>
                  <a:pt x="23812" y="428625"/>
                </a:cubicBezTo>
                <a:cubicBezTo>
                  <a:pt x="10616" y="428625"/>
                  <a:pt x="0" y="418009"/>
                  <a:pt x="0" y="404813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9" name="Text 7"/>
          <p:cNvSpPr/>
          <p:nvPr/>
        </p:nvSpPr>
        <p:spPr>
          <a:xfrm>
            <a:off x="9588500" y="165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Home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90000" y="2222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Maison intelligente avec automatisation, surveillance a distance et controle des equipements. Le capteur DHT22 supervise temperature et humidite pour un confort optimal.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3937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0000" y="431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cubicBezTo>
                  <a:pt x="310277" y="0"/>
                  <a:pt x="315754" y="1191"/>
                  <a:pt x="320754" y="3453"/>
                </a:cubicBezTo>
                <a:lnTo>
                  <a:pt x="545068" y="98584"/>
                </a:lnTo>
                <a:cubicBezTo>
                  <a:pt x="571262" y="109657"/>
                  <a:pt x="590788" y="135493"/>
                  <a:pt x="590669" y="166688"/>
                </a:cubicBezTo>
                <a:cubicBezTo>
                  <a:pt x="590074" y="284797"/>
                  <a:pt x="541496" y="500896"/>
                  <a:pt x="336352" y="599123"/>
                </a:cubicBezTo>
                <a:cubicBezTo>
                  <a:pt x="316468" y="608647"/>
                  <a:pt x="293370" y="608647"/>
                  <a:pt x="273487" y="599123"/>
                </a:cubicBezTo>
                <a:cubicBezTo>
                  <a:pt x="68223" y="500896"/>
                  <a:pt x="19764" y="284797"/>
                  <a:pt x="19169" y="166688"/>
                </a:cubicBezTo>
                <a:cubicBezTo>
                  <a:pt x="19050" y="135493"/>
                  <a:pt x="38576" y="109657"/>
                  <a:pt x="64770" y="98584"/>
                </a:cubicBezTo>
                <a:lnTo>
                  <a:pt x="288965" y="3453"/>
                </a:lnTo>
                <a:cubicBezTo>
                  <a:pt x="293965" y="1191"/>
                  <a:pt x="299323" y="0"/>
                  <a:pt x="304800" y="0"/>
                </a:cubicBezTo>
                <a:close/>
                <a:moveTo>
                  <a:pt x="304800" y="79534"/>
                </a:moveTo>
                <a:lnTo>
                  <a:pt x="304800" y="529709"/>
                </a:lnTo>
                <a:cubicBezTo>
                  <a:pt x="469106" y="450175"/>
                  <a:pt x="513278" y="273963"/>
                  <a:pt x="514350" y="168473"/>
                </a:cubicBezTo>
                <a:lnTo>
                  <a:pt x="304800" y="79653"/>
                </a:lnTo>
                <a:lnTo>
                  <a:pt x="304800" y="7965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59000" y="4318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Securite dans l'IoT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0000" y="5080000"/>
            <a:ext cx="1371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securite est essentielle dans les objets connectes. Cryptage TLS, authentification forte MFA et protection des flux de donnees garantissent la confidentialite et l'integrite des communications entre capteurs, cloud et utilisateurs.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970000" y="6350000"/>
            <a:ext cx="2032000" cy="2032000"/>
          </a:xfrm>
          <a:prstGeom prst="ellipse">
            <a:avLst/>
          </a:prstGeom>
          <a:gradFill rotWithShape="1" flip="none">
            <a:gsLst>
              <a:gs pos="0">
                <a:srgbClr val="00D4FF">
                  <a:alpha val="8000"/>
                </a:srgbClr>
              </a:gs>
              <a:gs pos="100000">
                <a:srgbClr val="00D4FF">
                  <a:alpha val="0"/>
                </a:srgbClr>
              </a:gs>
            </a:gsLst>
            <a:path path="circle"/>
          </a:gradFill>
          <a:ln/>
        </p:spPr>
      </p:sp>
      <p:sp>
        <p:nvSpPr>
          <p:cNvPr id="16" name="Text 1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OBJECTIFS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2032000"/>
            <a:ext cx="317500" cy="508000"/>
          </a:xfrm>
          <a:custGeom>
            <a:avLst/>
            <a:gdLst/>
            <a:ahLst/>
            <a:cxnLst/>
            <a:rect l="l" t="t" r="r" b="b"/>
            <a:pathLst>
              <a:path w="317500" h="508000">
                <a:moveTo>
                  <a:pt x="158750" y="0"/>
                </a:moveTo>
                <a:cubicBezTo>
                  <a:pt x="106164" y="0"/>
                  <a:pt x="63500" y="42664"/>
                  <a:pt x="63500" y="95250"/>
                </a:cubicBezTo>
                <a:lnTo>
                  <a:pt x="63500" y="258663"/>
                </a:lnTo>
                <a:cubicBezTo>
                  <a:pt x="34230" y="284758"/>
                  <a:pt x="15875" y="322858"/>
                  <a:pt x="15875" y="365125"/>
                </a:cubicBezTo>
                <a:cubicBezTo>
                  <a:pt x="15875" y="444004"/>
                  <a:pt x="79871" y="508000"/>
                  <a:pt x="158750" y="508000"/>
                </a:cubicBezTo>
                <a:cubicBezTo>
                  <a:pt x="237629" y="508000"/>
                  <a:pt x="301625" y="444004"/>
                  <a:pt x="301625" y="365125"/>
                </a:cubicBezTo>
                <a:cubicBezTo>
                  <a:pt x="301625" y="322858"/>
                  <a:pt x="283270" y="284758"/>
                  <a:pt x="254000" y="258663"/>
                </a:cubicBezTo>
                <a:lnTo>
                  <a:pt x="254000" y="95250"/>
                </a:lnTo>
                <a:cubicBezTo>
                  <a:pt x="254000" y="42664"/>
                  <a:pt x="211336" y="0"/>
                  <a:pt x="158750" y="0"/>
                </a:cubicBezTo>
                <a:close/>
                <a:moveTo>
                  <a:pt x="222250" y="365125"/>
                </a:moveTo>
                <a:cubicBezTo>
                  <a:pt x="222250" y="400149"/>
                  <a:pt x="193774" y="428625"/>
                  <a:pt x="158750" y="428625"/>
                </a:cubicBezTo>
                <a:cubicBezTo>
                  <a:pt x="123726" y="428625"/>
                  <a:pt x="95250" y="400149"/>
                  <a:pt x="95250" y="365125"/>
                </a:cubicBezTo>
                <a:cubicBezTo>
                  <a:pt x="95250" y="338435"/>
                  <a:pt x="111621" y="315615"/>
                  <a:pt x="134938" y="306288"/>
                </a:cubicBezTo>
                <a:lnTo>
                  <a:pt x="134938" y="214313"/>
                </a:lnTo>
                <a:cubicBezTo>
                  <a:pt x="134938" y="201116"/>
                  <a:pt x="145554" y="190500"/>
                  <a:pt x="158750" y="190500"/>
                </a:cubicBezTo>
                <a:cubicBezTo>
                  <a:pt x="171946" y="190500"/>
                  <a:pt x="182563" y="201116"/>
                  <a:pt x="182563" y="214313"/>
                </a:cubicBezTo>
                <a:lnTo>
                  <a:pt x="182563" y="306288"/>
                </a:lnTo>
                <a:cubicBezTo>
                  <a:pt x="205879" y="315714"/>
                  <a:pt x="222250" y="338534"/>
                  <a:pt x="222250" y="3651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2032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Surveillance Temp. / Hum.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730500"/>
            <a:ext cx="6286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Acquisition en temps reel des donnees du capteur DHT22 : temperature et humidite ambiante avec precision et fiabilite.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45500" y="1651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90000" y="2032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2032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MQTT / TLS Securise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26500" y="2730500"/>
            <a:ext cx="6286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Communication chiffree entre l'ESP32 et le cloud EMQX via MQTT sur TLS (port 8883) pour garantir la confidentialite.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841500" y="5461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Temps Reel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6159500"/>
            <a:ext cx="6286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Visualisation instantanee des mesures sur PC ou telephone avec historique des donnees et indicateurs d'etat.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45500" y="5080000"/>
            <a:ext cx="7048500" cy="304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94750" y="546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22250" y="246063"/>
                </a:move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lose/>
                <a:moveTo>
                  <a:pt x="192782" y="301625"/>
                </a:moveTo>
                <a:cubicBezTo>
                  <a:pt x="95052" y="301625"/>
                  <a:pt x="15875" y="380802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294878" y="508000"/>
                </a:lnTo>
                <a:cubicBezTo>
                  <a:pt x="258961" y="465733"/>
                  <a:pt x="238125" y="411262"/>
                  <a:pt x="238125" y="353616"/>
                </a:cubicBezTo>
                <a:lnTo>
                  <a:pt x="238125" y="322759"/>
                </a:lnTo>
                <a:cubicBezTo>
                  <a:pt x="238125" y="315516"/>
                  <a:pt x="239117" y="308372"/>
                  <a:pt x="241002" y="301625"/>
                </a:cubicBezTo>
                <a:lnTo>
                  <a:pt x="192782" y="301625"/>
                </a:lnTo>
                <a:close/>
                <a:moveTo>
                  <a:pt x="441821" y="484684"/>
                </a:moveTo>
                <a:lnTo>
                  <a:pt x="428625" y="490934"/>
                </a:lnTo>
                <a:lnTo>
                  <a:pt x="428625" y="304304"/>
                </a:lnTo>
                <a:lnTo>
                  <a:pt x="523875" y="336054"/>
                </a:lnTo>
                <a:lnTo>
                  <a:pt x="523875" y="355501"/>
                </a:lnTo>
                <a:cubicBezTo>
                  <a:pt x="523875" y="410865"/>
                  <a:pt x="491927" y="461169"/>
                  <a:pt x="441821" y="484783"/>
                </a:cubicBezTo>
                <a:close/>
                <a:moveTo>
                  <a:pt x="418604" y="257473"/>
                </a:moveTo>
                <a:lnTo>
                  <a:pt x="307479" y="294481"/>
                </a:lnTo>
                <a:cubicBezTo>
                  <a:pt x="294481" y="298847"/>
                  <a:pt x="285750" y="310952"/>
                  <a:pt x="285750" y="324644"/>
                </a:cubicBezTo>
                <a:lnTo>
                  <a:pt x="285750" y="355501"/>
                </a:lnTo>
                <a:cubicBezTo>
                  <a:pt x="285750" y="429320"/>
                  <a:pt x="328414" y="496491"/>
                  <a:pt x="395089" y="527844"/>
                </a:cubicBezTo>
                <a:lnTo>
                  <a:pt x="413445" y="536476"/>
                </a:lnTo>
                <a:cubicBezTo>
                  <a:pt x="418207" y="538659"/>
                  <a:pt x="423366" y="539849"/>
                  <a:pt x="428526" y="539849"/>
                </a:cubicBezTo>
                <a:cubicBezTo>
                  <a:pt x="433685" y="539849"/>
                  <a:pt x="438944" y="538659"/>
                  <a:pt x="443607" y="536476"/>
                </a:cubicBezTo>
                <a:lnTo>
                  <a:pt x="461962" y="527844"/>
                </a:lnTo>
                <a:cubicBezTo>
                  <a:pt x="528836" y="496391"/>
                  <a:pt x="571500" y="429220"/>
                  <a:pt x="571500" y="355402"/>
                </a:cubicBezTo>
                <a:lnTo>
                  <a:pt x="571500" y="324545"/>
                </a:lnTo>
                <a:cubicBezTo>
                  <a:pt x="571500" y="310852"/>
                  <a:pt x="562769" y="298748"/>
                  <a:pt x="549771" y="294382"/>
                </a:cubicBezTo>
                <a:lnTo>
                  <a:pt x="438646" y="257373"/>
                </a:lnTo>
                <a:cubicBezTo>
                  <a:pt x="432098" y="255191"/>
                  <a:pt x="425053" y="255191"/>
                  <a:pt x="418604" y="257373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54610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Authentification Forte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26500" y="6159500"/>
            <a:ext cx="62865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Acces protege par mot de passe et second facteur TOTP (MFA) pour securiser l'acces au dashboard.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/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Generale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1905000"/>
            <a:ext cx="254000" cy="406400"/>
          </a:xfrm>
          <a:custGeom>
            <a:avLst/>
            <a:gdLst/>
            <a:ahLst/>
            <a:cxnLst/>
            <a:rect l="l" t="t" r="r" b="b"/>
            <a:pathLst>
              <a:path w="254000" h="406400">
                <a:moveTo>
                  <a:pt x="127000" y="0"/>
                </a:moveTo>
                <a:cubicBezTo>
                  <a:pt x="84931" y="0"/>
                  <a:pt x="50800" y="34131"/>
                  <a:pt x="50800" y="76200"/>
                </a:cubicBezTo>
                <a:lnTo>
                  <a:pt x="50800" y="206931"/>
                </a:lnTo>
                <a:cubicBezTo>
                  <a:pt x="27384" y="227806"/>
                  <a:pt x="12700" y="258286"/>
                  <a:pt x="12700" y="292100"/>
                </a:cubicBezTo>
                <a:cubicBezTo>
                  <a:pt x="12700" y="355203"/>
                  <a:pt x="63897" y="406400"/>
                  <a:pt x="127000" y="406400"/>
                </a:cubicBezTo>
                <a:cubicBezTo>
                  <a:pt x="190103" y="406400"/>
                  <a:pt x="241300" y="355203"/>
                  <a:pt x="241300" y="292100"/>
                </a:cubicBezTo>
                <a:cubicBezTo>
                  <a:pt x="241300" y="258286"/>
                  <a:pt x="226616" y="227806"/>
                  <a:pt x="203200" y="206931"/>
                </a:cubicBezTo>
                <a:lnTo>
                  <a:pt x="203200" y="76200"/>
                </a:lnTo>
                <a:cubicBezTo>
                  <a:pt x="203200" y="34131"/>
                  <a:pt x="169069" y="0"/>
                  <a:pt x="127000" y="0"/>
                </a:cubicBezTo>
                <a:close/>
                <a:moveTo>
                  <a:pt x="177800" y="292100"/>
                </a:moveTo>
                <a:cubicBezTo>
                  <a:pt x="177800" y="320119"/>
                  <a:pt x="155019" y="342900"/>
                  <a:pt x="127000" y="342900"/>
                </a:cubicBezTo>
                <a:cubicBezTo>
                  <a:pt x="98981" y="342900"/>
                  <a:pt x="76200" y="320119"/>
                  <a:pt x="76200" y="292100"/>
                </a:cubicBezTo>
                <a:cubicBezTo>
                  <a:pt x="76200" y="270748"/>
                  <a:pt x="89297" y="252492"/>
                  <a:pt x="107950" y="245031"/>
                </a:cubicBezTo>
                <a:lnTo>
                  <a:pt x="107950" y="171450"/>
                </a:lnTo>
                <a:cubicBezTo>
                  <a:pt x="107950" y="160893"/>
                  <a:pt x="116443" y="152400"/>
                  <a:pt x="127000" y="152400"/>
                </a:cubicBezTo>
                <a:cubicBezTo>
                  <a:pt x="137557" y="152400"/>
                  <a:pt x="146050" y="160893"/>
                  <a:pt x="146050" y="171450"/>
                </a:cubicBezTo>
                <a:lnTo>
                  <a:pt x="146050" y="245031"/>
                </a:lnTo>
                <a:cubicBezTo>
                  <a:pt x="164703" y="252571"/>
                  <a:pt x="177800" y="270828"/>
                  <a:pt x="177800" y="2921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DHT22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5000" y="2286000"/>
            <a:ext cx="889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191000" y="17780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3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3180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04000" y="2286000"/>
            <a:ext cx="889000" cy="0"/>
          </a:xfrm>
          <a:prstGeom prst="straightConnector1">
            <a:avLst/>
          </a:prstGeom>
          <a:noFill/>
          <a:ln w="25400">
            <a:solidFill>
              <a:srgbClr val="00E5C9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0" y="1778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00E5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3600" y="1905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0" y="266700"/>
                </a:moveTo>
                <a:cubicBezTo>
                  <a:pt x="0" y="329803"/>
                  <a:pt x="51197" y="381000"/>
                  <a:pt x="114300" y="381000"/>
                </a:cubicBezTo>
                <a:lnTo>
                  <a:pt x="355600" y="381000"/>
                </a:lnTo>
                <a:cubicBezTo>
                  <a:pt x="411718" y="381000"/>
                  <a:pt x="457200" y="335518"/>
                  <a:pt x="457200" y="279400"/>
                </a:cubicBezTo>
                <a:cubicBezTo>
                  <a:pt x="457200" y="238442"/>
                  <a:pt x="432991" y="203121"/>
                  <a:pt x="398066" y="187087"/>
                </a:cubicBezTo>
                <a:cubicBezTo>
                  <a:pt x="403384" y="176689"/>
                  <a:pt x="406400" y="164862"/>
                  <a:pt x="406400" y="152400"/>
                </a:cubicBezTo>
                <a:cubicBezTo>
                  <a:pt x="406400" y="110331"/>
                  <a:pt x="372269" y="76200"/>
                  <a:pt x="330200" y="76200"/>
                </a:cubicBezTo>
                <a:cubicBezTo>
                  <a:pt x="316151" y="76200"/>
                  <a:pt x="303054" y="80010"/>
                  <a:pt x="291783" y="86598"/>
                </a:cubicBezTo>
                <a:cubicBezTo>
                  <a:pt x="272653" y="50244"/>
                  <a:pt x="234474" y="25400"/>
                  <a:pt x="190500" y="25400"/>
                </a:cubicBezTo>
                <a:cubicBezTo>
                  <a:pt x="127397" y="25400"/>
                  <a:pt x="76200" y="76597"/>
                  <a:pt x="76200" y="139700"/>
                </a:cubicBezTo>
                <a:cubicBezTo>
                  <a:pt x="76200" y="146050"/>
                  <a:pt x="76756" y="152321"/>
                  <a:pt x="77708" y="158353"/>
                </a:cubicBezTo>
                <a:cubicBezTo>
                  <a:pt x="32544" y="173593"/>
                  <a:pt x="0" y="216376"/>
                  <a:pt x="0" y="266700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47000" y="2413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EMQX Cloud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87000" y="2286000"/>
            <a:ext cx="889000" cy="0"/>
          </a:xfrm>
          <a:prstGeom prst="straightConnector1">
            <a:avLst/>
          </a:prstGeom>
          <a:noFill/>
          <a:ln w="25400">
            <a:solidFill>
              <a:srgbClr val="00E5C9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303000" y="17780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90400" y="1905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0" y="2413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0" y="2286000"/>
            <a:ext cx="762000" cy="0"/>
          </a:xfrm>
          <a:prstGeom prst="straightConnector1">
            <a:avLst/>
          </a:prstGeom>
          <a:noFill/>
          <a:ln w="25400">
            <a:solidFill>
              <a:srgbClr val="00D4F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4478000" y="1778000"/>
            <a:ext cx="1524000" cy="1270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541500" y="2413000"/>
            <a:ext cx="1397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342900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00D4FF">
              <a:alpha val="12549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3429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MQTT / TLS : 8883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56000" y="34290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00E5C9">
              <a:alpha val="12549"/>
            </a:srgbClr>
          </a:solidFill>
          <a:ln w="12700">
            <a:solidFill>
              <a:srgbClr val="00E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6000" y="3429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00E5C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Topic: smart-home/dht22/telemetry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318000"/>
            <a:ext cx="7048500" cy="4286081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572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Montant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47750" y="4953000"/>
            <a:ext cx="6286500" cy="14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DHT22 mesure la temperature et l'humidite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ESP32 lit les donnees via GPIO 33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Publication JSON sur EMQX Cloud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Chiffrement TLS sur port 8883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445500" y="4318000"/>
            <a:ext cx="7048500" cy="4286081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43000" y="646104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Flux Dashboard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47750" y="6927744"/>
            <a:ext cx="6286500" cy="14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Backend Node.js s'abonne au topic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Reception et stockage des messages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Mise a jour temps reel via SSE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Affichage sur PC ou telephone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  <p:pic>
        <p:nvPicPr>
          <p:cNvPr id="35" name="Image 0" descr="https://kimi-img.moonshot.cn/pub/slides/26-05-18-21:23:22-d85h5im947o5afbimjs0.jpeg">    </p:cNvPr>
          <p:cNvPicPr>
            <a:picLocks noChangeAspect="1"/>
          </p:cNvPicPr>
          <p:nvPr/>
        </p:nvPicPr>
        <p:blipFill>
          <a:blip r:embed="rId1"/>
          <a:srcRect l="7407" r="0" t="0" b="-1010"/>
          <a:stretch/>
        </p:blipFill>
        <p:spPr>
          <a:xfrm>
            <a:off x="8712200" y="4330700"/>
            <a:ext cx="6553200" cy="433688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COMPOSANTS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Composants Techniques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1841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ESP32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5400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Microcontroleur Wi-Fi / Bluetooth. Lit les donnees du capteur et publie vers le cloud via MQTT/TLS.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4750" y="1841500"/>
            <a:ext cx="317500" cy="508000"/>
          </a:xfrm>
          <a:custGeom>
            <a:avLst/>
            <a:gdLst/>
            <a:ahLst/>
            <a:cxnLst/>
            <a:rect l="l" t="t" r="r" b="b"/>
            <a:pathLst>
              <a:path w="317500" h="508000">
                <a:moveTo>
                  <a:pt x="158750" y="0"/>
                </a:moveTo>
                <a:cubicBezTo>
                  <a:pt x="106164" y="0"/>
                  <a:pt x="63500" y="42664"/>
                  <a:pt x="63500" y="95250"/>
                </a:cubicBezTo>
                <a:lnTo>
                  <a:pt x="63500" y="258663"/>
                </a:lnTo>
                <a:cubicBezTo>
                  <a:pt x="34230" y="284758"/>
                  <a:pt x="15875" y="322858"/>
                  <a:pt x="15875" y="365125"/>
                </a:cubicBezTo>
                <a:cubicBezTo>
                  <a:pt x="15875" y="444004"/>
                  <a:pt x="79871" y="508000"/>
                  <a:pt x="158750" y="508000"/>
                </a:cubicBezTo>
                <a:cubicBezTo>
                  <a:pt x="237629" y="508000"/>
                  <a:pt x="301625" y="444004"/>
                  <a:pt x="301625" y="365125"/>
                </a:cubicBezTo>
                <a:cubicBezTo>
                  <a:pt x="301625" y="322858"/>
                  <a:pt x="283270" y="284758"/>
                  <a:pt x="254000" y="258663"/>
                </a:cubicBezTo>
                <a:lnTo>
                  <a:pt x="254000" y="95250"/>
                </a:lnTo>
                <a:cubicBezTo>
                  <a:pt x="254000" y="42664"/>
                  <a:pt x="211336" y="0"/>
                  <a:pt x="158750" y="0"/>
                </a:cubicBezTo>
                <a:close/>
                <a:moveTo>
                  <a:pt x="222250" y="365125"/>
                </a:moveTo>
                <a:cubicBezTo>
                  <a:pt x="222250" y="400149"/>
                  <a:pt x="193774" y="428625"/>
                  <a:pt x="158750" y="428625"/>
                </a:cubicBezTo>
                <a:cubicBezTo>
                  <a:pt x="123726" y="428625"/>
                  <a:pt x="95250" y="400149"/>
                  <a:pt x="95250" y="365125"/>
                </a:cubicBezTo>
                <a:cubicBezTo>
                  <a:pt x="95250" y="338435"/>
                  <a:pt x="111621" y="315615"/>
                  <a:pt x="134938" y="306288"/>
                </a:cubicBezTo>
                <a:lnTo>
                  <a:pt x="134938" y="214313"/>
                </a:lnTo>
                <a:cubicBezTo>
                  <a:pt x="134938" y="201116"/>
                  <a:pt x="145554" y="190500"/>
                  <a:pt x="158750" y="190500"/>
                </a:cubicBezTo>
                <a:cubicBezTo>
                  <a:pt x="171946" y="190500"/>
                  <a:pt x="182563" y="201116"/>
                  <a:pt x="182563" y="214313"/>
                </a:cubicBezTo>
                <a:lnTo>
                  <a:pt x="182563" y="306288"/>
                </a:lnTo>
                <a:cubicBezTo>
                  <a:pt x="205879" y="315714"/>
                  <a:pt x="222250" y="338534"/>
                  <a:pt x="222250" y="365125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1841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DHT22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59500" y="25400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Capteur numerique de temperature et d'humidite. Precision ±0.5C, connecte sur GPIO 33 de l'ESP32.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24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760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874500" y="1841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Wokwi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76000" y="25400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Simulateur en ligne pour ESP32 et DHT22. Permet de tester le code embarque sans materiel physique.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1250" y="5524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0" y="333375"/>
                </a:moveTo>
                <a:cubicBezTo>
                  <a:pt x="0" y="412254"/>
                  <a:pt x="63996" y="476250"/>
                  <a:pt x="142875" y="476250"/>
                </a:cubicBezTo>
                <a:lnTo>
                  <a:pt x="444500" y="476250"/>
                </a:lnTo>
                <a:cubicBezTo>
                  <a:pt x="514648" y="476250"/>
                  <a:pt x="571500" y="419398"/>
                  <a:pt x="571500" y="349250"/>
                </a:cubicBezTo>
                <a:cubicBezTo>
                  <a:pt x="571500" y="298053"/>
                  <a:pt x="541238" y="253901"/>
                  <a:pt x="497582" y="233859"/>
                </a:cubicBezTo>
                <a:cubicBezTo>
                  <a:pt x="504230" y="220861"/>
                  <a:pt x="508000" y="206077"/>
                  <a:pt x="508000" y="190500"/>
                </a:cubicBezTo>
                <a:cubicBezTo>
                  <a:pt x="508000" y="137914"/>
                  <a:pt x="465336" y="95250"/>
                  <a:pt x="412750" y="95250"/>
                </a:cubicBezTo>
                <a:cubicBezTo>
                  <a:pt x="395188" y="95250"/>
                  <a:pt x="378817" y="100013"/>
                  <a:pt x="364728" y="108248"/>
                </a:cubicBezTo>
                <a:cubicBezTo>
                  <a:pt x="340816" y="62805"/>
                  <a:pt x="293092" y="31750"/>
                  <a:pt x="238125" y="31750"/>
                </a:cubicBezTo>
                <a:cubicBezTo>
                  <a:pt x="159246" y="31750"/>
                  <a:pt x="95250" y="95746"/>
                  <a:pt x="95250" y="174625"/>
                </a:cubicBezTo>
                <a:cubicBezTo>
                  <a:pt x="95250" y="182563"/>
                  <a:pt x="95945" y="190401"/>
                  <a:pt x="97135" y="197941"/>
                </a:cubicBezTo>
                <a:cubicBezTo>
                  <a:pt x="40680" y="216991"/>
                  <a:pt x="0" y="270470"/>
                  <a:pt x="0" y="333375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9" name="Text 17"/>
          <p:cNvSpPr/>
          <p:nvPr/>
        </p:nvSpPr>
        <p:spPr>
          <a:xfrm>
            <a:off x="1841500" y="5524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EMQX Cloud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62230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Broker MQTT cloud accessible depuis Wokwi et le backend. Port 8883 avec TLS active.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778500" y="5207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595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5524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Node.js Dashboard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59500" y="62230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 et interface web de visualisation temps reel. Accessible localement, en LAN ou via tunnel public.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795000" y="52070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39500" y="5524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27" name="Text 25"/>
          <p:cNvSpPr/>
          <p:nvPr/>
        </p:nvSpPr>
        <p:spPr>
          <a:xfrm>
            <a:off x="11874500" y="5524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MQTT / TLS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176000" y="6223000"/>
            <a:ext cx="393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Protocole de messagerie leger chiffre par TLS. Transport securise et authentifie pour les messages IoT.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FONCTIONNEMENT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Fonctionnement du Systeme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635000" cy="6350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158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des Donnees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1000" y="20955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L'ESP32 lit les donnees du capteur DHT22 : temperature et humidite ambiante via GPIO 33.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563725" y="1714500"/>
            <a:ext cx="285750" cy="457200"/>
          </a:xfrm>
          <a:custGeom>
            <a:avLst/>
            <a:gdLst/>
            <a:ahLst/>
            <a:cxnLst/>
            <a:rect l="l" t="t" r="r" b="b"/>
            <a:pathLst>
              <a:path w="285750" h="457200">
                <a:moveTo>
                  <a:pt x="142875" y="0"/>
                </a:moveTo>
                <a:cubicBezTo>
                  <a:pt x="95548" y="0"/>
                  <a:pt x="57150" y="38398"/>
                  <a:pt x="57150" y="85725"/>
                </a:cubicBezTo>
                <a:lnTo>
                  <a:pt x="57150" y="232797"/>
                </a:lnTo>
                <a:cubicBezTo>
                  <a:pt x="30807" y="256282"/>
                  <a:pt x="14288" y="290572"/>
                  <a:pt x="14288" y="328613"/>
                </a:cubicBezTo>
                <a:cubicBezTo>
                  <a:pt x="14288" y="399604"/>
                  <a:pt x="71884" y="457200"/>
                  <a:pt x="142875" y="457200"/>
                </a:cubicBezTo>
                <a:cubicBezTo>
                  <a:pt x="213866" y="457200"/>
                  <a:pt x="271463" y="399604"/>
                  <a:pt x="271463" y="328613"/>
                </a:cubicBezTo>
                <a:cubicBezTo>
                  <a:pt x="271463" y="290572"/>
                  <a:pt x="254943" y="256282"/>
                  <a:pt x="228600" y="232797"/>
                </a:cubicBezTo>
                <a:lnTo>
                  <a:pt x="228600" y="85725"/>
                </a:lnTo>
                <a:cubicBezTo>
                  <a:pt x="228600" y="38398"/>
                  <a:pt x="190202" y="0"/>
                  <a:pt x="142875" y="0"/>
                </a:cubicBezTo>
                <a:close/>
                <a:moveTo>
                  <a:pt x="200025" y="328613"/>
                </a:moveTo>
                <a:cubicBezTo>
                  <a:pt x="200025" y="360134"/>
                  <a:pt x="174397" y="385763"/>
                  <a:pt x="142875" y="385763"/>
                </a:cubicBezTo>
                <a:cubicBezTo>
                  <a:pt x="111353" y="385763"/>
                  <a:pt x="85725" y="360134"/>
                  <a:pt x="85725" y="328613"/>
                </a:cubicBezTo>
                <a:cubicBezTo>
                  <a:pt x="85725" y="304592"/>
                  <a:pt x="100459" y="284053"/>
                  <a:pt x="121444" y="275659"/>
                </a:cubicBezTo>
                <a:lnTo>
                  <a:pt x="121444" y="192881"/>
                </a:lnTo>
                <a:cubicBezTo>
                  <a:pt x="121444" y="181005"/>
                  <a:pt x="130999" y="171450"/>
                  <a:pt x="142875" y="171450"/>
                </a:cubicBezTo>
                <a:cubicBezTo>
                  <a:pt x="154751" y="171450"/>
                  <a:pt x="164306" y="181005"/>
                  <a:pt x="164306" y="192881"/>
                </a:cubicBezTo>
                <a:lnTo>
                  <a:pt x="164306" y="275659"/>
                </a:lnTo>
                <a:cubicBezTo>
                  <a:pt x="185291" y="284143"/>
                  <a:pt x="200025" y="304681"/>
                  <a:pt x="200025" y="328613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2222500"/>
            <a:ext cx="0" cy="444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ysDot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62000" y="3175000"/>
            <a:ext cx="635000" cy="635000"/>
          </a:xfrm>
          <a:prstGeom prst="ellipse">
            <a:avLst/>
          </a:prstGeom>
          <a:solidFill>
            <a:srgbClr val="00E5C9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175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317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Envoi vers EMQX Cloud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51000" y="3683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Publication MQTT/TLS chiffree sur le broker EMQX Cloud. Payload JSON avec temperature, humidite et statuts.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449425" y="3302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28588" y="428625"/>
                </a:moveTo>
                <a:cubicBezTo>
                  <a:pt x="57596" y="428625"/>
                  <a:pt x="0" y="371029"/>
                  <a:pt x="0" y="300038"/>
                </a:cubicBezTo>
                <a:cubicBezTo>
                  <a:pt x="0" y="243423"/>
                  <a:pt x="36612" y="195382"/>
                  <a:pt x="87422" y="178147"/>
                </a:cubicBezTo>
                <a:cubicBezTo>
                  <a:pt x="86261" y="171271"/>
                  <a:pt x="85725" y="164306"/>
                  <a:pt x="85725" y="157163"/>
                </a:cubicBezTo>
                <a:cubicBezTo>
                  <a:pt x="85725" y="86171"/>
                  <a:pt x="143321" y="28575"/>
                  <a:pt x="214313" y="28575"/>
                </a:cubicBezTo>
                <a:cubicBezTo>
                  <a:pt x="263783" y="28575"/>
                  <a:pt x="306735" y="56525"/>
                  <a:pt x="328255" y="97423"/>
                </a:cubicBezTo>
                <a:cubicBezTo>
                  <a:pt x="340935" y="90011"/>
                  <a:pt x="355759" y="85725"/>
                  <a:pt x="371475" y="85725"/>
                </a:cubicBezTo>
                <a:cubicBezTo>
                  <a:pt x="418802" y="85725"/>
                  <a:pt x="457200" y="124123"/>
                  <a:pt x="457200" y="171450"/>
                </a:cubicBezTo>
                <a:cubicBezTo>
                  <a:pt x="457200" y="185470"/>
                  <a:pt x="453807" y="198775"/>
                  <a:pt x="447824" y="210473"/>
                </a:cubicBezTo>
                <a:cubicBezTo>
                  <a:pt x="487114" y="228600"/>
                  <a:pt x="514350" y="268248"/>
                  <a:pt x="514350" y="314325"/>
                </a:cubicBezTo>
                <a:cubicBezTo>
                  <a:pt x="514350" y="377458"/>
                  <a:pt x="463183" y="428625"/>
                  <a:pt x="400050" y="428625"/>
                </a:cubicBezTo>
                <a:lnTo>
                  <a:pt x="128588" y="428625"/>
                </a:lnTo>
                <a:close/>
                <a:moveTo>
                  <a:pt x="272355" y="170557"/>
                </a:moveTo>
                <a:cubicBezTo>
                  <a:pt x="263962" y="162163"/>
                  <a:pt x="250388" y="162163"/>
                  <a:pt x="242084" y="170557"/>
                </a:cubicBezTo>
                <a:lnTo>
                  <a:pt x="177790" y="234851"/>
                </a:lnTo>
                <a:cubicBezTo>
                  <a:pt x="169396" y="243245"/>
                  <a:pt x="169396" y="256818"/>
                  <a:pt x="177790" y="265122"/>
                </a:cubicBezTo>
                <a:cubicBezTo>
                  <a:pt x="186184" y="273427"/>
                  <a:pt x="199757" y="273516"/>
                  <a:pt x="208062" y="265122"/>
                </a:cubicBezTo>
                <a:lnTo>
                  <a:pt x="235744" y="237440"/>
                </a:lnTo>
                <a:lnTo>
                  <a:pt x="235744" y="328613"/>
                </a:lnTo>
                <a:cubicBezTo>
                  <a:pt x="235744" y="340489"/>
                  <a:pt x="245299" y="350044"/>
                  <a:pt x="257175" y="350044"/>
                </a:cubicBezTo>
                <a:cubicBezTo>
                  <a:pt x="269051" y="350044"/>
                  <a:pt x="278606" y="340489"/>
                  <a:pt x="278606" y="328613"/>
                </a:cubicBezTo>
                <a:lnTo>
                  <a:pt x="278606" y="237440"/>
                </a:lnTo>
                <a:lnTo>
                  <a:pt x="306288" y="265122"/>
                </a:lnTo>
                <a:cubicBezTo>
                  <a:pt x="314682" y="273516"/>
                  <a:pt x="328255" y="273516"/>
                  <a:pt x="336560" y="265122"/>
                </a:cubicBezTo>
                <a:cubicBezTo>
                  <a:pt x="344865" y="256729"/>
                  <a:pt x="344954" y="243155"/>
                  <a:pt x="336560" y="234851"/>
                </a:cubicBezTo>
                <a:lnTo>
                  <a:pt x="272266" y="170557"/>
                </a:ln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3810000"/>
            <a:ext cx="0" cy="444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ysDot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62000" y="4762500"/>
            <a:ext cx="635000" cy="63500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762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4762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Reception Backend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51000" y="52705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backend Node.js s'abonne au topic, recoit les messages JSON et stocke l'historique localement.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506575" y="4889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9500" y="5397500"/>
            <a:ext cx="0" cy="444500"/>
          </a:xfrm>
          <a:prstGeom prst="straightConnector1">
            <a:avLst/>
          </a:prstGeom>
          <a:noFill/>
          <a:ln w="25400">
            <a:solidFill>
              <a:srgbClr val="334155"/>
            </a:solidFill>
            <a:prstDash val="sysDot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62000" y="6350000"/>
            <a:ext cx="635000" cy="635000"/>
          </a:xfrm>
          <a:prstGeom prst="ellipse">
            <a:avLst/>
          </a:prstGeom>
          <a:solidFill>
            <a:srgbClr val="00E5C9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635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B11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635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Affichage Dashboard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51000" y="6858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dashboard affiche les donnees en temps reel avec SSE et polling. Accessible depuis PC ou telephone.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478000" y="647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28" name="Shape 26"/>
          <p:cNvSpPr/>
          <p:nvPr/>
        </p:nvSpPr>
        <p:spPr>
          <a:xfrm>
            <a:off x="8890000" y="1587500"/>
            <a:ext cx="6604000" cy="6223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90000" y="1587500"/>
            <a:ext cx="6604000" cy="50800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Payload JSON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05000" y="15875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...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0" y="2286000"/>
            <a:ext cx="609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"device": "ESP32_DHT22",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"temperature": 24.00,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"humidity": 40.00,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"temperature_status": "NORMAL",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"humidity_status": "NORMAL",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"protocol": "MQTT_TLS",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"port": 8883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D4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001000"/>
            <a:ext cx="14732000" cy="635000"/>
          </a:xfrm>
          <a:prstGeom prst="roundRect">
            <a:avLst>
              <a:gd name="adj" fmla="val 50000"/>
            </a:avLst>
          </a:prstGeom>
          <a:solidFill>
            <a:srgbClr val="00E5C9">
              <a:alpha val="6275"/>
            </a:srgbClr>
          </a:solidFill>
          <a:ln w="12700">
            <a:solidFill>
              <a:srgbClr val="00E5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8166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35" name="Text 33"/>
          <p:cNvSpPr/>
          <p:nvPr/>
        </p:nvSpPr>
        <p:spPr>
          <a:xfrm>
            <a:off x="1651000" y="8001000"/>
            <a:ext cx="1346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 complet operationnel : DHT22 → ESP32 → EMQX Cloud → Backend → Dashboard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on25rwnvmr4w/mnt/agents/output/smart_home_iot/images/1_Blue_Glowing_Digital_Shield_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1120">
                  <a:alpha val="94000"/>
                </a:srgbClr>
              </a:gs>
              <a:gs pos="50000">
                <a:srgbClr val="0B1120">
                  <a:alpha val="88000"/>
                </a:srgbClr>
              </a:gs>
              <a:gs pos="100000">
                <a:srgbClr val="0B1120">
                  <a:alpha val="7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54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SECURITE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1651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0F172A">
              <a:alpha val="93333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2850" y="1968500"/>
            <a:ext cx="419100" cy="558800"/>
          </a:xfrm>
          <a:custGeom>
            <a:avLst/>
            <a:gdLst/>
            <a:ahLst/>
            <a:cxnLst/>
            <a:rect l="l" t="t" r="r" b="b"/>
            <a:pathLst>
              <a:path w="419100" h="558800">
                <a:moveTo>
                  <a:pt x="139700" y="104775"/>
                </a:moveTo>
                <a:lnTo>
                  <a:pt x="139700" y="174625"/>
                </a:lnTo>
                <a:lnTo>
                  <a:pt x="279400" y="174625"/>
                </a:lnTo>
                <a:lnTo>
                  <a:pt x="279400" y="104775"/>
                </a:lnTo>
                <a:cubicBezTo>
                  <a:pt x="279400" y="66248"/>
                  <a:pt x="248077" y="34925"/>
                  <a:pt x="209550" y="34925"/>
                </a:cubicBezTo>
                <a:cubicBezTo>
                  <a:pt x="171023" y="34925"/>
                  <a:pt x="139700" y="66248"/>
                  <a:pt x="139700" y="104775"/>
                </a:cubicBezTo>
                <a:close/>
                <a:moveTo>
                  <a:pt x="69850" y="174625"/>
                </a:moveTo>
                <a:lnTo>
                  <a:pt x="69850" y="104775"/>
                </a:lnTo>
                <a:cubicBezTo>
                  <a:pt x="69850" y="27613"/>
                  <a:pt x="132388" y="-34925"/>
                  <a:pt x="209550" y="-34925"/>
                </a:cubicBezTo>
                <a:cubicBezTo>
                  <a:pt x="286712" y="-34925"/>
                  <a:pt x="349250" y="27613"/>
                  <a:pt x="349250" y="104775"/>
                </a:cubicBezTo>
                <a:lnTo>
                  <a:pt x="349250" y="174625"/>
                </a:lnTo>
                <a:cubicBezTo>
                  <a:pt x="387777" y="174625"/>
                  <a:pt x="419100" y="205948"/>
                  <a:pt x="419100" y="244475"/>
                </a:cubicBezTo>
                <a:lnTo>
                  <a:pt x="419100" y="488950"/>
                </a:lnTo>
                <a:cubicBezTo>
                  <a:pt x="419100" y="527477"/>
                  <a:pt x="387777" y="558800"/>
                  <a:pt x="349250" y="558800"/>
                </a:cubicBezTo>
                <a:lnTo>
                  <a:pt x="69850" y="558800"/>
                </a:lnTo>
                <a:cubicBezTo>
                  <a:pt x="31323" y="558800"/>
                  <a:pt x="0" y="527477"/>
                  <a:pt x="0" y="488950"/>
                </a:cubicBezTo>
                <a:lnTo>
                  <a:pt x="0" y="244475"/>
                </a:lnTo>
                <a:cubicBezTo>
                  <a:pt x="0" y="205948"/>
                  <a:pt x="31323" y="174625"/>
                  <a:pt x="69850" y="1746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1905000" y="1968500"/>
            <a:ext cx="571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MQTT avec TLS (Port 8883)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2667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Chiffrement de bout en bout des messages IoT entre l'ESP32 et le broker EMQX Cloud. TLS garantit la confidentialite et l'integrite du flux capteur.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318500" y="1651000"/>
            <a:ext cx="7175500" cy="3048000"/>
          </a:xfrm>
          <a:prstGeom prst="roundRect">
            <a:avLst>
              <a:gd name="adj" fmla="val 8000"/>
            </a:avLst>
          </a:prstGeom>
          <a:solidFill>
            <a:srgbClr val="0F172A">
              <a:alpha val="93333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64575" y="19685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244475" y="270669"/>
                </a:moveTo>
                <a:cubicBezTo>
                  <a:pt x="316759" y="270669"/>
                  <a:pt x="375444" y="211984"/>
                  <a:pt x="375444" y="139700"/>
                </a:cubicBezTo>
                <a:cubicBezTo>
                  <a:pt x="375444" y="67416"/>
                  <a:pt x="316759" y="8731"/>
                  <a:pt x="244475" y="8731"/>
                </a:cubicBezTo>
                <a:cubicBezTo>
                  <a:pt x="172191" y="8731"/>
                  <a:pt x="113506" y="67416"/>
                  <a:pt x="113506" y="139700"/>
                </a:cubicBezTo>
                <a:cubicBezTo>
                  <a:pt x="113506" y="211984"/>
                  <a:pt x="172191" y="270669"/>
                  <a:pt x="244475" y="270669"/>
                </a:cubicBezTo>
                <a:close/>
                <a:moveTo>
                  <a:pt x="212060" y="331788"/>
                </a:moveTo>
                <a:cubicBezTo>
                  <a:pt x="104557" y="331788"/>
                  <a:pt x="17463" y="418882"/>
                  <a:pt x="17463" y="526385"/>
                </a:cubicBezTo>
                <a:cubicBezTo>
                  <a:pt x="17463" y="544284"/>
                  <a:pt x="31978" y="558800"/>
                  <a:pt x="49877" y="558800"/>
                </a:cubicBezTo>
                <a:lnTo>
                  <a:pt x="324366" y="558800"/>
                </a:lnTo>
                <a:cubicBezTo>
                  <a:pt x="284857" y="512306"/>
                  <a:pt x="261938" y="452388"/>
                  <a:pt x="261938" y="388977"/>
                </a:cubicBezTo>
                <a:lnTo>
                  <a:pt x="261938" y="355034"/>
                </a:lnTo>
                <a:cubicBezTo>
                  <a:pt x="261938" y="347067"/>
                  <a:pt x="263029" y="339209"/>
                  <a:pt x="265103" y="331787"/>
                </a:cubicBezTo>
                <a:lnTo>
                  <a:pt x="212060" y="331787"/>
                </a:lnTo>
                <a:close/>
                <a:moveTo>
                  <a:pt x="486003" y="533152"/>
                </a:moveTo>
                <a:lnTo>
                  <a:pt x="471488" y="540028"/>
                </a:lnTo>
                <a:lnTo>
                  <a:pt x="471488" y="334734"/>
                </a:lnTo>
                <a:lnTo>
                  <a:pt x="576262" y="369659"/>
                </a:lnTo>
                <a:lnTo>
                  <a:pt x="576262" y="391051"/>
                </a:lnTo>
                <a:cubicBezTo>
                  <a:pt x="576262" y="451951"/>
                  <a:pt x="541119" y="507286"/>
                  <a:pt x="486003" y="533261"/>
                </a:cubicBezTo>
                <a:close/>
                <a:moveTo>
                  <a:pt x="460464" y="283220"/>
                </a:moveTo>
                <a:lnTo>
                  <a:pt x="338227" y="323929"/>
                </a:lnTo>
                <a:cubicBezTo>
                  <a:pt x="323929" y="328732"/>
                  <a:pt x="314325" y="342047"/>
                  <a:pt x="314325" y="357108"/>
                </a:cubicBezTo>
                <a:lnTo>
                  <a:pt x="314325" y="391051"/>
                </a:lnTo>
                <a:cubicBezTo>
                  <a:pt x="314325" y="472251"/>
                  <a:pt x="361255" y="546140"/>
                  <a:pt x="434598" y="580628"/>
                </a:cubicBezTo>
                <a:lnTo>
                  <a:pt x="454789" y="590123"/>
                </a:lnTo>
                <a:cubicBezTo>
                  <a:pt x="460028" y="592524"/>
                  <a:pt x="465703" y="593834"/>
                  <a:pt x="471378" y="593834"/>
                </a:cubicBezTo>
                <a:cubicBezTo>
                  <a:pt x="477054" y="593834"/>
                  <a:pt x="482838" y="592524"/>
                  <a:pt x="487968" y="590123"/>
                </a:cubicBezTo>
                <a:lnTo>
                  <a:pt x="508159" y="580628"/>
                </a:lnTo>
                <a:cubicBezTo>
                  <a:pt x="581720" y="546031"/>
                  <a:pt x="628650" y="472142"/>
                  <a:pt x="628650" y="390942"/>
                </a:cubicBezTo>
                <a:lnTo>
                  <a:pt x="628650" y="356999"/>
                </a:lnTo>
                <a:cubicBezTo>
                  <a:pt x="628650" y="341938"/>
                  <a:pt x="619046" y="328622"/>
                  <a:pt x="604748" y="323820"/>
                </a:cubicBezTo>
                <a:lnTo>
                  <a:pt x="482511" y="283111"/>
                </a:lnTo>
                <a:cubicBezTo>
                  <a:pt x="475307" y="280710"/>
                  <a:pt x="467558" y="280710"/>
                  <a:pt x="460464" y="283111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3" name="Text 10"/>
          <p:cNvSpPr/>
          <p:nvPr/>
        </p:nvSpPr>
        <p:spPr>
          <a:xfrm>
            <a:off x="9461500" y="1968500"/>
            <a:ext cx="571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Authentification MFA TOTP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99500" y="2667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Mot de passe fort combine avec un second facteur TOTP (Time-based One-Time Password). Double verification avant acces au dashboard.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0F172A">
              <a:alpha val="93333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43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9939" y="24646"/>
                </a:moveTo>
                <a:cubicBezTo>
                  <a:pt x="229225" y="19824"/>
                  <a:pt x="225564" y="15895"/>
                  <a:pt x="220742" y="15180"/>
                </a:cubicBezTo>
                <a:cubicBezTo>
                  <a:pt x="201007" y="12412"/>
                  <a:pt x="180915" y="15984"/>
                  <a:pt x="163235" y="25360"/>
                </a:cubicBezTo>
                <a:lnTo>
                  <a:pt x="97155" y="60633"/>
                </a:lnTo>
                <a:cubicBezTo>
                  <a:pt x="79564" y="70009"/>
                  <a:pt x="65365" y="84743"/>
                  <a:pt x="56614" y="102691"/>
                </a:cubicBezTo>
                <a:lnTo>
                  <a:pt x="23842" y="170200"/>
                </a:lnTo>
                <a:cubicBezTo>
                  <a:pt x="15091" y="188149"/>
                  <a:pt x="12234" y="208508"/>
                  <a:pt x="15716" y="228154"/>
                </a:cubicBezTo>
                <a:lnTo>
                  <a:pt x="28664" y="302091"/>
                </a:lnTo>
                <a:cubicBezTo>
                  <a:pt x="32147" y="321826"/>
                  <a:pt x="41702" y="339864"/>
                  <a:pt x="56078" y="353794"/>
                </a:cubicBezTo>
                <a:lnTo>
                  <a:pt x="109924" y="405944"/>
                </a:lnTo>
                <a:cubicBezTo>
                  <a:pt x="124301" y="419874"/>
                  <a:pt x="142607" y="428804"/>
                  <a:pt x="162342" y="431572"/>
                </a:cubicBezTo>
                <a:lnTo>
                  <a:pt x="236458" y="442020"/>
                </a:lnTo>
                <a:cubicBezTo>
                  <a:pt x="256193" y="444788"/>
                  <a:pt x="276285" y="441216"/>
                  <a:pt x="293965" y="431840"/>
                </a:cubicBezTo>
                <a:lnTo>
                  <a:pt x="360045" y="396567"/>
                </a:lnTo>
                <a:cubicBezTo>
                  <a:pt x="377636" y="387191"/>
                  <a:pt x="391835" y="372457"/>
                  <a:pt x="400586" y="354419"/>
                </a:cubicBezTo>
                <a:lnTo>
                  <a:pt x="433358" y="287000"/>
                </a:lnTo>
                <a:cubicBezTo>
                  <a:pt x="442109" y="269051"/>
                  <a:pt x="444966" y="248692"/>
                  <a:pt x="441484" y="229046"/>
                </a:cubicBezTo>
                <a:cubicBezTo>
                  <a:pt x="440680" y="224314"/>
                  <a:pt x="436751" y="220742"/>
                  <a:pt x="432018" y="220028"/>
                </a:cubicBezTo>
                <a:cubicBezTo>
                  <a:pt x="386030" y="212705"/>
                  <a:pt x="349151" y="177969"/>
                  <a:pt x="338703" y="133052"/>
                </a:cubicBezTo>
                <a:cubicBezTo>
                  <a:pt x="337096" y="126266"/>
                  <a:pt x="331559" y="121087"/>
                  <a:pt x="324683" y="120015"/>
                </a:cubicBezTo>
                <a:cubicBezTo>
                  <a:pt x="275927" y="112246"/>
                  <a:pt x="237440" y="73581"/>
                  <a:pt x="229850" y="24646"/>
                </a:cubicBezTo>
                <a:close/>
                <a:moveTo>
                  <a:pt x="185738" y="128588"/>
                </a:moveTo>
                <a:cubicBezTo>
                  <a:pt x="201508" y="128588"/>
                  <a:pt x="214313" y="141392"/>
                  <a:pt x="214313" y="157163"/>
                </a:cubicBezTo>
                <a:cubicBezTo>
                  <a:pt x="214313" y="172933"/>
                  <a:pt x="201508" y="185738"/>
                  <a:pt x="185738" y="185738"/>
                </a:cubicBezTo>
                <a:cubicBezTo>
                  <a:pt x="169967" y="185738"/>
                  <a:pt x="157163" y="172933"/>
                  <a:pt x="157163" y="157163"/>
                </a:cubicBezTo>
                <a:cubicBezTo>
                  <a:pt x="157163" y="141392"/>
                  <a:pt x="169967" y="128588"/>
                  <a:pt x="185738" y="128588"/>
                </a:cubicBezTo>
                <a:close/>
                <a:moveTo>
                  <a:pt x="128588" y="300038"/>
                </a:moveTo>
                <a:cubicBezTo>
                  <a:pt x="128588" y="284267"/>
                  <a:pt x="141392" y="271463"/>
                  <a:pt x="157163" y="271463"/>
                </a:cubicBezTo>
                <a:cubicBezTo>
                  <a:pt x="172933" y="271463"/>
                  <a:pt x="185738" y="284267"/>
                  <a:pt x="185738" y="300038"/>
                </a:cubicBezTo>
                <a:cubicBezTo>
                  <a:pt x="185738" y="315808"/>
                  <a:pt x="172933" y="328613"/>
                  <a:pt x="157163" y="328613"/>
                </a:cubicBezTo>
                <a:cubicBezTo>
                  <a:pt x="141392" y="328613"/>
                  <a:pt x="128588" y="315808"/>
                  <a:pt x="128588" y="300038"/>
                </a:cubicBezTo>
                <a:close/>
                <a:moveTo>
                  <a:pt x="328613" y="242888"/>
                </a:moveTo>
                <a:cubicBezTo>
                  <a:pt x="344383" y="242888"/>
                  <a:pt x="357188" y="255692"/>
                  <a:pt x="357188" y="271463"/>
                </a:cubicBezTo>
                <a:cubicBezTo>
                  <a:pt x="357188" y="287233"/>
                  <a:pt x="344383" y="300038"/>
                  <a:pt x="328613" y="300038"/>
                </a:cubicBezTo>
                <a:cubicBezTo>
                  <a:pt x="312842" y="300038"/>
                  <a:pt x="300038" y="287233"/>
                  <a:pt x="300038" y="271463"/>
                </a:cubicBezTo>
                <a:cubicBezTo>
                  <a:pt x="300038" y="255692"/>
                  <a:pt x="312842" y="242888"/>
                  <a:pt x="328613" y="242888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1778000" y="5397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Sessions HttpOnly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000" y="5969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Sessions signees et securisees. Protection contre le vol de session et les attaques XSS.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7785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0F172A">
              <a:alpha val="93333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595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6278" y="2590"/>
                </a:moveTo>
                <a:cubicBezTo>
                  <a:pt x="222528" y="893"/>
                  <a:pt x="218509" y="0"/>
                  <a:pt x="214313" y="0"/>
                </a:cubicBezTo>
                <a:cubicBezTo>
                  <a:pt x="210116" y="0"/>
                  <a:pt x="206097" y="893"/>
                  <a:pt x="202347" y="2590"/>
                </a:cubicBezTo>
                <a:lnTo>
                  <a:pt x="34201" y="73938"/>
                </a:lnTo>
                <a:cubicBezTo>
                  <a:pt x="14555" y="82242"/>
                  <a:pt x="-89" y="101620"/>
                  <a:pt x="0" y="125016"/>
                </a:cubicBezTo>
                <a:cubicBezTo>
                  <a:pt x="446" y="213598"/>
                  <a:pt x="36880" y="375672"/>
                  <a:pt x="190738" y="449342"/>
                </a:cubicBezTo>
                <a:cubicBezTo>
                  <a:pt x="205651" y="456486"/>
                  <a:pt x="222974" y="456486"/>
                  <a:pt x="237887" y="449342"/>
                </a:cubicBezTo>
                <a:cubicBezTo>
                  <a:pt x="391835" y="375672"/>
                  <a:pt x="428268" y="213598"/>
                  <a:pt x="428625" y="125016"/>
                </a:cubicBezTo>
                <a:cubicBezTo>
                  <a:pt x="428714" y="101620"/>
                  <a:pt x="414070" y="82242"/>
                  <a:pt x="394424" y="73938"/>
                </a:cubicBezTo>
                <a:lnTo>
                  <a:pt x="226278" y="2590"/>
                </a:lnTo>
                <a:close/>
                <a:moveTo>
                  <a:pt x="214313" y="114300"/>
                </a:moveTo>
                <a:cubicBezTo>
                  <a:pt x="226189" y="114300"/>
                  <a:pt x="235744" y="123855"/>
                  <a:pt x="235744" y="135731"/>
                </a:cubicBezTo>
                <a:cubicBezTo>
                  <a:pt x="235744" y="156180"/>
                  <a:pt x="260479" y="166449"/>
                  <a:pt x="274945" y="151983"/>
                </a:cubicBezTo>
                <a:cubicBezTo>
                  <a:pt x="283339" y="143589"/>
                  <a:pt x="296912" y="143589"/>
                  <a:pt x="305217" y="151983"/>
                </a:cubicBezTo>
                <a:cubicBezTo>
                  <a:pt x="313521" y="160377"/>
                  <a:pt x="313611" y="173950"/>
                  <a:pt x="305217" y="182255"/>
                </a:cubicBezTo>
                <a:cubicBezTo>
                  <a:pt x="290751" y="196721"/>
                  <a:pt x="301020" y="221456"/>
                  <a:pt x="321469" y="221456"/>
                </a:cubicBezTo>
                <a:cubicBezTo>
                  <a:pt x="333345" y="221456"/>
                  <a:pt x="342900" y="231011"/>
                  <a:pt x="342900" y="242888"/>
                </a:cubicBezTo>
                <a:cubicBezTo>
                  <a:pt x="342900" y="254764"/>
                  <a:pt x="333345" y="264319"/>
                  <a:pt x="321469" y="264319"/>
                </a:cubicBezTo>
                <a:cubicBezTo>
                  <a:pt x="301020" y="264319"/>
                  <a:pt x="290751" y="289054"/>
                  <a:pt x="305217" y="303520"/>
                </a:cubicBezTo>
                <a:cubicBezTo>
                  <a:pt x="313611" y="311914"/>
                  <a:pt x="313611" y="325487"/>
                  <a:pt x="305217" y="333792"/>
                </a:cubicBezTo>
                <a:cubicBezTo>
                  <a:pt x="296823" y="342096"/>
                  <a:pt x="283250" y="342186"/>
                  <a:pt x="274945" y="333792"/>
                </a:cubicBezTo>
                <a:cubicBezTo>
                  <a:pt x="260479" y="319326"/>
                  <a:pt x="235744" y="329595"/>
                  <a:pt x="235744" y="350044"/>
                </a:cubicBezTo>
                <a:cubicBezTo>
                  <a:pt x="235744" y="361920"/>
                  <a:pt x="226189" y="371475"/>
                  <a:pt x="214313" y="371475"/>
                </a:cubicBezTo>
                <a:cubicBezTo>
                  <a:pt x="202436" y="371475"/>
                  <a:pt x="192881" y="361920"/>
                  <a:pt x="192881" y="350044"/>
                </a:cubicBezTo>
                <a:cubicBezTo>
                  <a:pt x="192881" y="329595"/>
                  <a:pt x="168146" y="319326"/>
                  <a:pt x="153680" y="333792"/>
                </a:cubicBezTo>
                <a:cubicBezTo>
                  <a:pt x="145286" y="342186"/>
                  <a:pt x="131713" y="342186"/>
                  <a:pt x="123408" y="333792"/>
                </a:cubicBezTo>
                <a:cubicBezTo>
                  <a:pt x="115104" y="325398"/>
                  <a:pt x="115014" y="311825"/>
                  <a:pt x="123408" y="303520"/>
                </a:cubicBezTo>
                <a:cubicBezTo>
                  <a:pt x="137874" y="289054"/>
                  <a:pt x="127605" y="264319"/>
                  <a:pt x="107156" y="264319"/>
                </a:cubicBezTo>
                <a:cubicBezTo>
                  <a:pt x="95280" y="264319"/>
                  <a:pt x="85725" y="254764"/>
                  <a:pt x="85725" y="242888"/>
                </a:cubicBezTo>
                <a:cubicBezTo>
                  <a:pt x="85725" y="231011"/>
                  <a:pt x="95280" y="221456"/>
                  <a:pt x="107156" y="221456"/>
                </a:cubicBezTo>
                <a:cubicBezTo>
                  <a:pt x="127605" y="221456"/>
                  <a:pt x="137874" y="196721"/>
                  <a:pt x="123408" y="182255"/>
                </a:cubicBezTo>
                <a:cubicBezTo>
                  <a:pt x="115014" y="173861"/>
                  <a:pt x="115014" y="160288"/>
                  <a:pt x="123408" y="151983"/>
                </a:cubicBezTo>
                <a:cubicBezTo>
                  <a:pt x="131802" y="143679"/>
                  <a:pt x="145375" y="143589"/>
                  <a:pt x="153680" y="151983"/>
                </a:cubicBezTo>
                <a:cubicBezTo>
                  <a:pt x="168146" y="166449"/>
                  <a:pt x="192881" y="156180"/>
                  <a:pt x="192881" y="135731"/>
                </a:cubicBezTo>
                <a:cubicBezTo>
                  <a:pt x="192881" y="123855"/>
                  <a:pt x="202436" y="114300"/>
                  <a:pt x="214313" y="114300"/>
                </a:cubicBezTo>
                <a:close/>
                <a:moveTo>
                  <a:pt x="185738" y="235744"/>
                </a:moveTo>
                <a:cubicBezTo>
                  <a:pt x="197566" y="235744"/>
                  <a:pt x="207169" y="226141"/>
                  <a:pt x="207169" y="214313"/>
                </a:cubicBezTo>
                <a:cubicBezTo>
                  <a:pt x="207169" y="202484"/>
                  <a:pt x="197566" y="192881"/>
                  <a:pt x="185738" y="192881"/>
                </a:cubicBezTo>
                <a:cubicBezTo>
                  <a:pt x="173909" y="192881"/>
                  <a:pt x="164306" y="202484"/>
                  <a:pt x="164306" y="214313"/>
                </a:cubicBezTo>
                <a:cubicBezTo>
                  <a:pt x="164306" y="226141"/>
                  <a:pt x="173909" y="235744"/>
                  <a:pt x="185738" y="235744"/>
                </a:cubicBezTo>
                <a:close/>
                <a:moveTo>
                  <a:pt x="264319" y="271463"/>
                </a:moveTo>
                <a:cubicBezTo>
                  <a:pt x="264319" y="259634"/>
                  <a:pt x="254716" y="250031"/>
                  <a:pt x="242888" y="250031"/>
                </a:cubicBezTo>
                <a:cubicBezTo>
                  <a:pt x="231059" y="250031"/>
                  <a:pt x="221456" y="259634"/>
                  <a:pt x="221456" y="271463"/>
                </a:cubicBezTo>
                <a:cubicBezTo>
                  <a:pt x="221456" y="283291"/>
                  <a:pt x="231059" y="292894"/>
                  <a:pt x="242888" y="292894"/>
                </a:cubicBezTo>
                <a:cubicBezTo>
                  <a:pt x="254716" y="292894"/>
                  <a:pt x="264319" y="283291"/>
                  <a:pt x="264319" y="271463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21" name="Text 18"/>
          <p:cNvSpPr/>
          <p:nvPr/>
        </p:nvSpPr>
        <p:spPr>
          <a:xfrm>
            <a:off x="6794500" y="5397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CSRF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59500" y="5969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Validation des requetes cross-site. Tokens CSRF pour securiser chaque interaction utilisateur.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795000" y="5080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0F172A">
              <a:alpha val="93333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176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11811000" y="5397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Secrets Proteges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176000" y="5969000"/>
            <a:ext cx="393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Identifiants EMQX uniquement cote serveur. Etat applicatif verifie dans le navigateur client.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RESULTATS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675" y="1778000"/>
            <a:ext cx="222250" cy="355600"/>
          </a:xfrm>
          <a:custGeom>
            <a:avLst/>
            <a:gdLst/>
            <a:ahLst/>
            <a:cxnLst/>
            <a:rect l="l" t="t" r="r" b="b"/>
            <a:pathLst>
              <a:path w="222250" h="355600">
                <a:moveTo>
                  <a:pt x="111125" y="0"/>
                </a:moveTo>
                <a:cubicBezTo>
                  <a:pt x="74315" y="0"/>
                  <a:pt x="44450" y="29865"/>
                  <a:pt x="44450" y="66675"/>
                </a:cubicBezTo>
                <a:lnTo>
                  <a:pt x="44450" y="181064"/>
                </a:lnTo>
                <a:cubicBezTo>
                  <a:pt x="23961" y="199330"/>
                  <a:pt x="11112" y="226000"/>
                  <a:pt x="11112" y="255587"/>
                </a:cubicBezTo>
                <a:cubicBezTo>
                  <a:pt x="11112" y="310803"/>
                  <a:pt x="55910" y="355600"/>
                  <a:pt x="111125" y="355600"/>
                </a:cubicBezTo>
                <a:cubicBezTo>
                  <a:pt x="166340" y="355600"/>
                  <a:pt x="211138" y="310803"/>
                  <a:pt x="211138" y="255587"/>
                </a:cubicBezTo>
                <a:cubicBezTo>
                  <a:pt x="211138" y="226000"/>
                  <a:pt x="198289" y="199330"/>
                  <a:pt x="177800" y="181064"/>
                </a:cubicBezTo>
                <a:lnTo>
                  <a:pt x="177800" y="66675"/>
                </a:lnTo>
                <a:cubicBezTo>
                  <a:pt x="177800" y="29865"/>
                  <a:pt x="147935" y="0"/>
                  <a:pt x="111125" y="0"/>
                </a:cubicBezTo>
                <a:close/>
                <a:moveTo>
                  <a:pt x="155575" y="255587"/>
                </a:moveTo>
                <a:cubicBezTo>
                  <a:pt x="155575" y="280104"/>
                  <a:pt x="135642" y="300038"/>
                  <a:pt x="111125" y="300038"/>
                </a:cubicBezTo>
                <a:cubicBezTo>
                  <a:pt x="86608" y="300038"/>
                  <a:pt x="66675" y="280104"/>
                  <a:pt x="66675" y="255587"/>
                </a:cubicBezTo>
                <a:cubicBezTo>
                  <a:pt x="66675" y="236905"/>
                  <a:pt x="78135" y="220930"/>
                  <a:pt x="94456" y="214402"/>
                </a:cubicBezTo>
                <a:lnTo>
                  <a:pt x="94456" y="150019"/>
                </a:lnTo>
                <a:cubicBezTo>
                  <a:pt x="94456" y="140781"/>
                  <a:pt x="101888" y="133350"/>
                  <a:pt x="111125" y="133350"/>
                </a:cubicBezTo>
                <a:cubicBezTo>
                  <a:pt x="120362" y="133350"/>
                  <a:pt x="127794" y="140781"/>
                  <a:pt x="127794" y="150019"/>
                </a:cubicBezTo>
                <a:lnTo>
                  <a:pt x="127794" y="214402"/>
                </a:lnTo>
                <a:cubicBezTo>
                  <a:pt x="144115" y="221000"/>
                  <a:pt x="155575" y="236974"/>
                  <a:pt x="155575" y="255587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225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00E5C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24.0 C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16000" y="29210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Temperature en temps reel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08500" y="15875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6950" y="177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355600"/>
                </a:moveTo>
                <a:cubicBezTo>
                  <a:pt x="59730" y="355600"/>
                  <a:pt x="0" y="295870"/>
                  <a:pt x="0" y="222250"/>
                </a:cubicBezTo>
                <a:cubicBezTo>
                  <a:pt x="0" y="158909"/>
                  <a:pt x="90428" y="31879"/>
                  <a:pt x="115709" y="-2431"/>
                </a:cubicBezTo>
                <a:cubicBezTo>
                  <a:pt x="119807" y="-7987"/>
                  <a:pt x="126266" y="-11112"/>
                  <a:pt x="133211" y="-11112"/>
                </a:cubicBezTo>
                <a:lnTo>
                  <a:pt x="133489" y="-11112"/>
                </a:lnTo>
                <a:cubicBezTo>
                  <a:pt x="140434" y="-11112"/>
                  <a:pt x="146893" y="-7987"/>
                  <a:pt x="150991" y="-2431"/>
                </a:cubicBezTo>
                <a:cubicBezTo>
                  <a:pt x="176272" y="31879"/>
                  <a:pt x="266700" y="158909"/>
                  <a:pt x="266700" y="222250"/>
                </a:cubicBezTo>
                <a:cubicBezTo>
                  <a:pt x="266700" y="295870"/>
                  <a:pt x="206970" y="355600"/>
                  <a:pt x="133350" y="355600"/>
                </a:cubicBezTo>
                <a:close/>
                <a:moveTo>
                  <a:pt x="77788" y="216694"/>
                </a:moveTo>
                <a:cubicBezTo>
                  <a:pt x="77788" y="207456"/>
                  <a:pt x="70356" y="200025"/>
                  <a:pt x="61119" y="200025"/>
                </a:cubicBezTo>
                <a:cubicBezTo>
                  <a:pt x="51881" y="200025"/>
                  <a:pt x="44450" y="207456"/>
                  <a:pt x="44450" y="216694"/>
                </a:cubicBezTo>
                <a:cubicBezTo>
                  <a:pt x="44450" y="268853"/>
                  <a:pt x="86747" y="311150"/>
                  <a:pt x="138906" y="311150"/>
                </a:cubicBezTo>
                <a:cubicBezTo>
                  <a:pt x="148144" y="311150"/>
                  <a:pt x="155575" y="303719"/>
                  <a:pt x="155575" y="294481"/>
                </a:cubicBezTo>
                <a:cubicBezTo>
                  <a:pt x="155575" y="285244"/>
                  <a:pt x="148144" y="277813"/>
                  <a:pt x="138906" y="277813"/>
                </a:cubicBezTo>
                <a:cubicBezTo>
                  <a:pt x="105152" y="277813"/>
                  <a:pt x="77788" y="250448"/>
                  <a:pt x="77788" y="216694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1" name="Text 9"/>
          <p:cNvSpPr/>
          <p:nvPr/>
        </p:nvSpPr>
        <p:spPr>
          <a:xfrm>
            <a:off x="4762500" y="22225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00E5C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40.0 %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62500" y="29210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Humidite en temps reel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5000" y="15875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9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2225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00E5C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509000" y="2921000"/>
            <a:ext cx="292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Statut des mesures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001500" y="1587500"/>
            <a:ext cx="34925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299950" y="177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5500" y="2222500"/>
            <a:ext cx="298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00E5C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MQTT_TLS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255500" y="29210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Port 8883 securise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37465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841500" y="4064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Temps Reel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4699000"/>
            <a:ext cx="6413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Visualisation instantanee des donnees DHT22. Mise a jour automatique a chaque publication MQTT.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18500" y="3746500"/>
            <a:ext cx="717550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995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00E5C9"/>
          </a:solidFill>
          <a:ln/>
        </p:spPr>
      </p:sp>
      <p:sp>
        <p:nvSpPr>
          <p:cNvPr id="27" name="Text 25"/>
          <p:cNvSpPr/>
          <p:nvPr/>
        </p:nvSpPr>
        <p:spPr>
          <a:xfrm>
            <a:off x="9398000" y="4064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Securisee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99500" y="4699000"/>
            <a:ext cx="6413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 MQTT/TLS verifie et operationnel. Connexion chiffree entre ESP32, EMQX Cloud et le backend Node.js.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2000" y="64135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4425" y="673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57150"/>
                </a:moveTo>
                <a:cubicBezTo>
                  <a:pt x="351830" y="57150"/>
                  <a:pt x="428625" y="133945"/>
                  <a:pt x="428625" y="228600"/>
                </a:cubicBezTo>
                <a:cubicBezTo>
                  <a:pt x="428625" y="323255"/>
                  <a:pt x="351830" y="400050"/>
                  <a:pt x="257175" y="400050"/>
                </a:cubicBezTo>
                <a:cubicBezTo>
                  <a:pt x="198953" y="400050"/>
                  <a:pt x="147429" y="371029"/>
                  <a:pt x="116443" y="326559"/>
                </a:cubicBezTo>
                <a:cubicBezTo>
                  <a:pt x="107424" y="313611"/>
                  <a:pt x="89565" y="310485"/>
                  <a:pt x="76617" y="319504"/>
                </a:cubicBezTo>
                <a:cubicBezTo>
                  <a:pt x="63669" y="328523"/>
                  <a:pt x="60543" y="346383"/>
                  <a:pt x="69562" y="359331"/>
                </a:cubicBezTo>
                <a:cubicBezTo>
                  <a:pt x="110817" y="418445"/>
                  <a:pt x="179487" y="457200"/>
                  <a:pt x="257175" y="457200"/>
                </a:cubicBezTo>
                <a:cubicBezTo>
                  <a:pt x="383441" y="457200"/>
                  <a:pt x="485775" y="354866"/>
                  <a:pt x="485775" y="228600"/>
                </a:cubicBezTo>
                <a:cubicBezTo>
                  <a:pt x="485775" y="102334"/>
                  <a:pt x="383441" y="0"/>
                  <a:pt x="257175" y="0"/>
                </a:cubicBezTo>
                <a:cubicBezTo>
                  <a:pt x="180648" y="0"/>
                  <a:pt x="112961" y="37594"/>
                  <a:pt x="71438" y="95280"/>
                </a:cubicBezTo>
                <a:lnTo>
                  <a:pt x="71438" y="71438"/>
                </a:lnTo>
                <a:cubicBezTo>
                  <a:pt x="71438" y="55632"/>
                  <a:pt x="58668" y="42863"/>
                  <a:pt x="42863" y="42863"/>
                </a:cubicBezTo>
                <a:cubicBezTo>
                  <a:pt x="27057" y="42863"/>
                  <a:pt x="14288" y="55632"/>
                  <a:pt x="14288" y="71438"/>
                </a:cubicBezTo>
                <a:lnTo>
                  <a:pt x="14288" y="171450"/>
                </a:lnTo>
                <a:cubicBezTo>
                  <a:pt x="14288" y="187256"/>
                  <a:pt x="27057" y="200025"/>
                  <a:pt x="42863" y="200025"/>
                </a:cubicBezTo>
                <a:lnTo>
                  <a:pt x="64830" y="200025"/>
                </a:lnTo>
                <a:cubicBezTo>
                  <a:pt x="65276" y="200025"/>
                  <a:pt x="65723" y="200025"/>
                  <a:pt x="66169" y="200025"/>
                </a:cubicBezTo>
                <a:lnTo>
                  <a:pt x="142964" y="200025"/>
                </a:lnTo>
                <a:cubicBezTo>
                  <a:pt x="158770" y="200025"/>
                  <a:pt x="171539" y="187256"/>
                  <a:pt x="171539" y="171450"/>
                </a:cubicBezTo>
                <a:cubicBezTo>
                  <a:pt x="171539" y="155644"/>
                  <a:pt x="158770" y="142875"/>
                  <a:pt x="142964" y="142875"/>
                </a:cubicBezTo>
                <a:lnTo>
                  <a:pt x="108764" y="142875"/>
                </a:lnTo>
                <a:cubicBezTo>
                  <a:pt x="138321" y="91619"/>
                  <a:pt x="193774" y="57150"/>
                  <a:pt x="257175" y="57150"/>
                </a:cubicBezTo>
                <a:close/>
                <a:moveTo>
                  <a:pt x="278606" y="135731"/>
                </a:moveTo>
                <a:cubicBezTo>
                  <a:pt x="278606" y="123855"/>
                  <a:pt x="269051" y="114300"/>
                  <a:pt x="257175" y="114300"/>
                </a:cubicBezTo>
                <a:cubicBezTo>
                  <a:pt x="245299" y="114300"/>
                  <a:pt x="235744" y="123855"/>
                  <a:pt x="235744" y="135731"/>
                </a:cubicBezTo>
                <a:lnTo>
                  <a:pt x="235744" y="228600"/>
                </a:lnTo>
                <a:cubicBezTo>
                  <a:pt x="235744" y="234315"/>
                  <a:pt x="237976" y="239762"/>
                  <a:pt x="241995" y="243780"/>
                </a:cubicBezTo>
                <a:lnTo>
                  <a:pt x="306288" y="308074"/>
                </a:lnTo>
                <a:cubicBezTo>
                  <a:pt x="314682" y="316468"/>
                  <a:pt x="328255" y="316468"/>
                  <a:pt x="336560" y="308074"/>
                </a:cubicBezTo>
                <a:cubicBezTo>
                  <a:pt x="344865" y="299680"/>
                  <a:pt x="344954" y="286107"/>
                  <a:pt x="336560" y="277803"/>
                </a:cubicBezTo>
                <a:lnTo>
                  <a:pt x="278517" y="219760"/>
                </a:lnTo>
                <a:lnTo>
                  <a:pt x="278517" y="135731"/>
                </a:lnTo>
                <a:close/>
              </a:path>
            </a:pathLst>
          </a:cu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1841500" y="673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Historique des Donnees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43000" y="7366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Stockage local de l'historique des mesures. Consultation des valeurs precedentes avec filtres temporels et tendances d'evolution.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con25rwnvmr4w/mnt/agents/output/smart_home_iot/images/6_52_675_Blue_Padlock_Digital_Background.png">    </p:cNvPr>
          <p:cNvPicPr>
            <a:picLocks noChangeAspect="1"/>
          </p:cNvPicPr>
          <p:nvPr/>
        </p:nvPicPr>
        <p:blipFill>
          <a:blip r:embed="rId1"/>
          <a:srcRect l="0" r="0" t="74" b="7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B1120">
                  <a:alpha val="67000"/>
                </a:srgbClr>
              </a:gs>
              <a:gs pos="70000">
                <a:srgbClr val="0B1120">
                  <a:alpha val="87000"/>
                </a:srgbClr>
              </a:gs>
              <a:gs pos="100000">
                <a:srgbClr val="0B1120">
                  <a:alpha val="96000"/>
                </a:srgbClr>
              </a:gs>
            </a:gsLst>
            <a:path path="circle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413000" y="3302000"/>
            <a:ext cx="11430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000" b="1" spc="1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83000" y="5080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Demonstration en direct du systeme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223000" y="5842000"/>
            <a:ext cx="3810000" cy="38100"/>
          </a:xfrm>
          <a:prstGeom prst="rect">
            <a:avLst/>
          </a:prstGeom>
          <a:gradFill rotWithShape="1" flip="none">
            <a:gsLst>
              <a:gs pos="0">
                <a:srgbClr val="00D4FF">
                  <a:alpha val="0"/>
                </a:srgbClr>
              </a:gs>
              <a:gs pos="50000">
                <a:srgbClr val="00D4FF"/>
              </a:gs>
              <a:gs pos="100000">
                <a:srgbClr val="00D4FF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4318000" y="1778000"/>
            <a:ext cx="1016000" cy="1016000"/>
          </a:xfrm>
          <a:prstGeom prst="ellipse">
            <a:avLst/>
          </a:prstGeom>
          <a:gradFill rotWithShape="1" flip="none">
            <a:gsLst>
              <a:gs pos="0">
                <a:srgbClr val="00D4FF">
                  <a:alpha val="13000"/>
                </a:srgbClr>
              </a:gs>
              <a:gs pos="100000">
                <a:srgbClr val="00D4FF">
                  <a:alpha val="0"/>
                </a:srgbClr>
              </a:gs>
            </a:gsLst>
            <a:path path="circle"/>
          </a:gradFill>
          <a:ln/>
        </p:spPr>
      </p:sp>
      <p:sp>
        <p:nvSpPr>
          <p:cNvPr id="8" name="Shape 5"/>
          <p:cNvSpPr/>
          <p:nvPr/>
        </p:nvSpPr>
        <p:spPr>
          <a:xfrm>
            <a:off x="10922000" y="1778000"/>
            <a:ext cx="1016000" cy="1016000"/>
          </a:xfrm>
          <a:prstGeom prst="ellipse">
            <a:avLst/>
          </a:prstGeom>
          <a:gradFill rotWithShape="1" flip="none">
            <a:gsLst>
              <a:gs pos="0">
                <a:srgbClr val="00E5C9">
                  <a:alpha val="13000"/>
                </a:srgbClr>
              </a:gs>
              <a:gs pos="100000">
                <a:srgbClr val="00E5C9">
                  <a:alpha val="0"/>
                </a:srgbClr>
              </a:gs>
            </a:gsLst>
            <a:path path="circle"/>
          </a:gradFill>
          <a:ln/>
        </p:spPr>
      </p:sp>
      <p:sp>
        <p:nvSpPr>
          <p:cNvPr id="9" name="Shape 6"/>
          <p:cNvSpPr/>
          <p:nvPr/>
        </p:nvSpPr>
        <p:spPr>
          <a:xfrm>
            <a:off x="4318000" y="6350000"/>
            <a:ext cx="762000" cy="762000"/>
          </a:xfrm>
          <a:prstGeom prst="ellipse">
            <a:avLst/>
          </a:prstGeom>
          <a:gradFill rotWithShape="1" flip="none">
            <a:gsLst>
              <a:gs pos="0">
                <a:srgbClr val="00E5C9">
                  <a:alpha val="13000"/>
                </a:srgbClr>
              </a:gs>
              <a:gs pos="100000">
                <a:srgbClr val="00E5C9">
                  <a:alpha val="0"/>
                </a:srgbClr>
              </a:gs>
            </a:gsLst>
            <a:path path="circle"/>
          </a:gradFill>
          <a:ln/>
        </p:spPr>
      </p:sp>
      <p:sp>
        <p:nvSpPr>
          <p:cNvPr id="10" name="Shape 7"/>
          <p:cNvSpPr/>
          <p:nvPr/>
        </p:nvSpPr>
        <p:spPr>
          <a:xfrm>
            <a:off x="11176000" y="6350000"/>
            <a:ext cx="762000" cy="762000"/>
          </a:xfrm>
          <a:prstGeom prst="ellipse">
            <a:avLst/>
          </a:prstGeom>
          <a:gradFill rotWithShape="1" flip="none">
            <a:gsLst>
              <a:gs pos="0">
                <a:srgbClr val="00D4FF">
                  <a:alpha val="13000"/>
                </a:srgbClr>
              </a:gs>
              <a:gs pos="100000">
                <a:srgbClr val="00D4FF">
                  <a:alpha val="0"/>
                </a:srgbClr>
              </a:gs>
            </a:gsLst>
            <a:path path="circle"/>
          </a:gradFill>
          <a:ln/>
        </p:spPr>
      </p:sp>
      <p:sp>
        <p:nvSpPr>
          <p:cNvPr id="11" name="Text 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0B1120"/>
            </a:gs>
            <a:gs pos="100000">
              <a:srgbClr val="111827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4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366000" cy="4699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4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Bilan du Projet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2413000"/>
            <a:ext cx="6604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Projet fonctionnel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chaine complete acquisition capteur → cloud → dashboard operationnelle et testee.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Supervision securisee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donnees IoT protegees par MQTT/TLS avec authentification forte et sessions securisees.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D4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robuste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simulation Wokwi, broker EMQX Cloud, backend Node.js et dashboard reactif.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09000" y="1651000"/>
            <a:ext cx="6985000" cy="4699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0000" y="184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Perspectives Futures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90000" y="2413000"/>
            <a:ext cx="6223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 mobile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portage du dashboard sur iOS et Android pour un acces nomade.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Alertes intelligentes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notifications push en cas de depassement des seuils critiques.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00E5C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IA predictive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2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analyse par machine learning pour anticiper les variations et optimiser le confort.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6731000"/>
            <a:ext cx="14732000" cy="1270000"/>
          </a:xfrm>
          <a:prstGeom prst="roundRect">
            <a:avLst>
              <a:gd name="adj" fmla="val 50000"/>
            </a:avLst>
          </a:prstGeom>
          <a:gradFill rotWithShape="1" flip="none">
            <a:gsLst>
              <a:gs pos="0">
                <a:srgbClr val="00D4FF">
                  <a:alpha val="8000"/>
                </a:srgbClr>
              </a:gs>
              <a:gs pos="50000">
                <a:srgbClr val="00D4FF">
                  <a:alpha val="15000"/>
                </a:srgbClr>
              </a:gs>
              <a:gs pos="100000">
                <a:srgbClr val="00D4FF">
                  <a:alpha val="8000"/>
                </a:srgbClr>
              </a:gs>
            </a:gsLst>
            <a:lin ang="0" scaled="1"/>
          </a:gra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 POUR VOTRE ATTENTION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83000" y="8255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Saad Lakzit &amp; Omar Chouhani | Encadre par Prof. Fartitchou Mohamed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Maison Intelligente - ESP32 + MQTT + TLS</dc:title>
  <dc:subject>Maison Intelligente - ESP32 + MQTT + TLS</dc:subject>
  <dc:creator>Kimi</dc:creator>
  <cp:lastModifiedBy>Kimi</cp:lastModifiedBy>
  <cp:revision>1</cp:revision>
  <dcterms:created xsi:type="dcterms:W3CDTF">2026-05-18T13:44:23Z</dcterms:created>
  <dcterms:modified xsi:type="dcterms:W3CDTF">2026-05-18T13:44:23Z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{"Label":"Maison Intelligente - ESP32 + MQTT + TLS","ContentProducer":"001191110108MACG2KBH8F10000","ProduceID":"19e3af43-f5c2-8e23-8000-0000e32f2613","ReservedCode1":"","ContentPropagator":"001191110108MACG2KBH8F20000","PropagateID":"19e3af43-f5c2-8e23-8000-0000e32f2613","ReservedCode2":""}</vt:lpwstr>
  </property>
</Properties>
</file>